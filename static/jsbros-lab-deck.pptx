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</p:sldIdLst>
  <p:sldSz cy="5143500" cx="9144000"/>
  <p:notesSz cx="5143500" cy="9144000"/>
  <p:embeddedFontLst>
    <p:embeddedFont>
      <p:font typeface="Roboto Mono"/>
      <p:regular r:id="rId41"/>
      <p:bold r:id="rId42"/>
      <p:italic r:id="rId43"/>
      <p:boldItalic r:id="rId4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45" roundtripDataSignature="AMtx7mhi5a8y9lSSJEYCXtgLI4w2UN6bh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6.xml"/><Relationship Id="rId20" Type="http://schemas.openxmlformats.org/officeDocument/2006/relationships/slide" Target="slides/slide16.xml"/><Relationship Id="rId42" Type="http://schemas.openxmlformats.org/officeDocument/2006/relationships/font" Target="fonts/RobotoMono-bold.fntdata"/><Relationship Id="rId41" Type="http://schemas.openxmlformats.org/officeDocument/2006/relationships/font" Target="fonts/RobotoMono-regular.fntdata"/><Relationship Id="rId22" Type="http://schemas.openxmlformats.org/officeDocument/2006/relationships/slide" Target="slides/slide18.xml"/><Relationship Id="rId44" Type="http://schemas.openxmlformats.org/officeDocument/2006/relationships/font" Target="fonts/RobotoMono-boldItalic.fntdata"/><Relationship Id="rId21" Type="http://schemas.openxmlformats.org/officeDocument/2006/relationships/slide" Target="slides/slide17.xml"/><Relationship Id="rId43" Type="http://schemas.openxmlformats.org/officeDocument/2006/relationships/font" Target="fonts/RobotoMono-italic.fntdata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45" Type="http://customschemas.google.com/relationships/presentationmetadata" Target="meta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31" Type="http://schemas.openxmlformats.org/officeDocument/2006/relationships/slide" Target="slides/slide27.xml"/><Relationship Id="rId30" Type="http://schemas.openxmlformats.org/officeDocument/2006/relationships/slide" Target="slides/slide26.xml"/><Relationship Id="rId11" Type="http://schemas.openxmlformats.org/officeDocument/2006/relationships/slide" Target="slides/slide7.xml"/><Relationship Id="rId33" Type="http://schemas.openxmlformats.org/officeDocument/2006/relationships/slide" Target="slides/slide29.xml"/><Relationship Id="rId10" Type="http://schemas.openxmlformats.org/officeDocument/2006/relationships/slide" Target="slides/slide6.xml"/><Relationship Id="rId32" Type="http://schemas.openxmlformats.org/officeDocument/2006/relationships/slide" Target="slides/slide28.xml"/><Relationship Id="rId13" Type="http://schemas.openxmlformats.org/officeDocument/2006/relationships/slide" Target="slides/slide9.xml"/><Relationship Id="rId35" Type="http://schemas.openxmlformats.org/officeDocument/2006/relationships/slide" Target="slides/slide31.xml"/><Relationship Id="rId12" Type="http://schemas.openxmlformats.org/officeDocument/2006/relationships/slide" Target="slides/slide8.xml"/><Relationship Id="rId34" Type="http://schemas.openxmlformats.org/officeDocument/2006/relationships/slide" Target="slides/slide30.xml"/><Relationship Id="rId15" Type="http://schemas.openxmlformats.org/officeDocument/2006/relationships/slide" Target="slides/slide11.xml"/><Relationship Id="rId37" Type="http://schemas.openxmlformats.org/officeDocument/2006/relationships/slide" Target="slides/slide33.xml"/><Relationship Id="rId14" Type="http://schemas.openxmlformats.org/officeDocument/2006/relationships/slide" Target="slides/slide10.xml"/><Relationship Id="rId36" Type="http://schemas.openxmlformats.org/officeDocument/2006/relationships/slide" Target="slides/slide32.xml"/><Relationship Id="rId17" Type="http://schemas.openxmlformats.org/officeDocument/2006/relationships/slide" Target="slides/slide13.xml"/><Relationship Id="rId39" Type="http://schemas.openxmlformats.org/officeDocument/2006/relationships/slide" Target="slides/slide35.xml"/><Relationship Id="rId16" Type="http://schemas.openxmlformats.org/officeDocument/2006/relationships/slide" Target="slides/slide12.xml"/><Relationship Id="rId38" Type="http://schemas.openxmlformats.org/officeDocument/2006/relationships/slide" Target="slides/slide34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latin typeface="Arial"/>
                <a:ea typeface="Arial"/>
                <a:cs typeface="Arial"/>
                <a:sym typeface="Arial"/>
              </a:rPr>
              <a:t>Welcome them in. Set the vibe — this is a lab, not a classroom. Say something like: </a:t>
            </a:r>
            <a:r>
              <a:rPr i="1" lang="en-US" sz="1100">
                <a:latin typeface="Arial"/>
                <a:ea typeface="Arial"/>
                <a:cs typeface="Arial"/>
                <a:sym typeface="Arial"/>
              </a:rPr>
              <a:t>"We're not here to sit and watch. We're here to break things, figure out why they broke, and fix them."</a:t>
            </a:r>
            <a:r>
              <a:rPr lang="en-US" sz="1100">
                <a:latin typeface="Arial"/>
                <a:ea typeface="Arial"/>
                <a:cs typeface="Arial"/>
                <a:sym typeface="Arial"/>
              </a:rPr>
              <a:t> Let the title sit for a second. If it's the first time they've seen the deck, ask them: </a:t>
            </a:r>
            <a:r>
              <a:rPr i="1" lang="en-US" sz="1100">
                <a:latin typeface="Arial"/>
                <a:ea typeface="Arial"/>
                <a:cs typeface="Arial"/>
                <a:sym typeface="Arial"/>
              </a:rPr>
              <a:t>"What do you think JS Bros Lab is?"</a:t>
            </a:r>
            <a:r>
              <a:rPr lang="en-US" sz="1100">
                <a:latin typeface="Arial"/>
                <a:ea typeface="Arial"/>
                <a:cs typeface="Arial"/>
                <a:sym typeface="Arial"/>
              </a:rPr>
              <a:t> Let them answer before moving on.</a:t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" name="Google Shape;24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100"/>
              <a:buNone/>
            </a:pPr>
            <a:r>
              <a:rPr lang="en-US" sz="1100">
                <a:latin typeface="Arial"/>
                <a:ea typeface="Arial"/>
                <a:cs typeface="Arial"/>
                <a:sym typeface="Arial"/>
              </a:rPr>
              <a:t>Walk through the 11 lessons without going deep on any of them. The point is to give them a map so they know where they're headed. Say: </a:t>
            </a:r>
            <a:r>
              <a:rPr i="1" lang="en-US" sz="1100">
                <a:latin typeface="Arial"/>
                <a:ea typeface="Arial"/>
                <a:cs typeface="Arial"/>
                <a:sym typeface="Arial"/>
              </a:rPr>
              <a:t>"Some of these sound easy, some sound hard. By the end you'll have done all of them."</a:t>
            </a:r>
            <a:r>
              <a:rPr lang="en-US" sz="1100">
                <a:latin typeface="Arial"/>
                <a:ea typeface="Arial"/>
                <a:cs typeface="Arial"/>
                <a:sym typeface="Arial"/>
              </a:rPr>
              <a:t> Point out that Lesson 9 is 90 minutes — that's the one where they build an actual game. Build anticipation. Ask: </a:t>
            </a:r>
            <a:r>
              <a:rPr i="1" lang="en-US" sz="1100">
                <a:latin typeface="Arial"/>
                <a:ea typeface="Arial"/>
                <a:cs typeface="Arial"/>
                <a:sym typeface="Arial"/>
              </a:rPr>
              <a:t>"Which lesson are you most excited about?"</a:t>
            </a:r>
            <a:endParaRPr/>
          </a:p>
        </p:txBody>
      </p:sp>
      <p:sp>
        <p:nvSpPr>
          <p:cNvPr id="25" name="Google Shape;25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" name="Google Shape;87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latin typeface="Arial"/>
                <a:ea typeface="Arial"/>
                <a:cs typeface="Arial"/>
                <a:sym typeface="Arial"/>
              </a:rPr>
              <a:t>Just read the title and subtitle out loud, then pause. Ask: </a:t>
            </a:r>
            <a:r>
              <a:rPr i="1" lang="en-US" sz="1100">
                <a:latin typeface="Arial"/>
                <a:ea typeface="Arial"/>
                <a:cs typeface="Arial"/>
                <a:sym typeface="Arial"/>
              </a:rPr>
              <a:t>"What do you think a repository is?"</a:t>
            </a:r>
            <a:r>
              <a:rPr lang="en-US" sz="1100">
                <a:latin typeface="Arial"/>
                <a:ea typeface="Arial"/>
                <a:cs typeface="Arial"/>
                <a:sym typeface="Arial"/>
              </a:rPr>
              <a:t> Let them guess — wrong answers are fine. Say: </a:t>
            </a:r>
            <a:r>
              <a:rPr i="1" lang="en-US" sz="1100">
                <a:latin typeface="Arial"/>
                <a:ea typeface="Arial"/>
                <a:cs typeface="Arial"/>
                <a:sym typeface="Arial"/>
              </a:rPr>
              <a:t>"By the end of today you'll know exactly what it is."</a:t>
            </a:r>
            <a:endParaRPr/>
          </a:p>
        </p:txBody>
      </p:sp>
      <p:sp>
        <p:nvSpPr>
          <p:cNvPr id="88" name="Google Shape;88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0" name="Google Shape;10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00">
                <a:latin typeface="Arial"/>
                <a:ea typeface="Arial"/>
                <a:cs typeface="Arial"/>
                <a:sym typeface="Arial"/>
              </a:rPr>
              <a:t>Go through each concept slowly. The key analogies to use: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-US" sz="1100">
                <a:latin typeface="Arial"/>
                <a:ea typeface="Arial"/>
                <a:cs typeface="Arial"/>
                <a:sym typeface="Arial"/>
              </a:rPr>
              <a:t>Repo = project folder</a:t>
            </a:r>
            <a:r>
              <a:rPr lang="en-US" sz="1100">
                <a:latin typeface="Arial"/>
                <a:ea typeface="Arial"/>
                <a:cs typeface="Arial"/>
                <a:sym typeface="Arial"/>
              </a:rPr>
              <a:t> — "Imagine if every time you worked on a Lego set, everything went in one labeled box. That's a repo."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-US" sz="1100">
                <a:latin typeface="Arial"/>
                <a:ea typeface="Arial"/>
                <a:cs typeface="Arial"/>
                <a:sym typeface="Arial"/>
              </a:rPr>
              <a:t>Commit = save point</a:t>
            </a:r>
            <a:r>
              <a:rPr lang="en-US" sz="1100">
                <a:latin typeface="Arial"/>
                <a:ea typeface="Arial"/>
                <a:cs typeface="Arial"/>
                <a:sym typeface="Arial"/>
              </a:rPr>
              <a:t> — "Like saving in a game, except you never lose your old saves."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-US" sz="1100">
                <a:latin typeface="Arial"/>
                <a:ea typeface="Arial"/>
                <a:cs typeface="Arial"/>
                <a:sym typeface="Arial"/>
              </a:rPr>
              <a:t>GitHub = cloud backup + teamwork</a:t>
            </a:r>
            <a:r>
              <a:rPr lang="en-US" sz="1100">
                <a:latin typeface="Arial"/>
                <a:ea typeface="Arial"/>
                <a:cs typeface="Arial"/>
                <a:sym typeface="Arial"/>
              </a:rPr>
              <a:t> — "It lives online, so if your computer dies, your work doesn't."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-US" sz="1100">
                <a:latin typeface="Arial"/>
                <a:ea typeface="Arial"/>
                <a:cs typeface="Arial"/>
                <a:sym typeface="Arial"/>
              </a:rPr>
              <a:t>The JS Bros universe</a:t>
            </a:r>
            <a:r>
              <a:rPr lang="en-US" sz="1100">
                <a:latin typeface="Arial"/>
                <a:ea typeface="Arial"/>
                <a:cs typeface="Arial"/>
                <a:sym typeface="Arial"/>
              </a:rPr>
              <a:t> — Show them how the three repos (Games, Lab, Prints) connect. They're building a real portfolio here, not just doing homework.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" name="Google Shape;101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latin typeface="Arial"/>
                <a:ea typeface="Arial"/>
                <a:cs typeface="Arial"/>
                <a:sym typeface="Arial"/>
              </a:rPr>
              <a:t>Walk them through the steps in order. Don't rush step 4 (cloning). If it's their first </a:t>
            </a:r>
            <a:r>
              <a:rPr lang="en-US" sz="11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git clone</a:t>
            </a:r>
            <a:r>
              <a:rPr lang="en-US" sz="1100">
                <a:latin typeface="Arial"/>
                <a:ea typeface="Arial"/>
                <a:cs typeface="Arial"/>
                <a:sym typeface="Arial"/>
              </a:rPr>
              <a:t>, watch their face when the files appear in VS Code — that moment lands. Key phrase to repeat out loud: </a:t>
            </a:r>
            <a:r>
              <a:rPr i="1" lang="en-US" sz="1100">
                <a:latin typeface="Arial"/>
                <a:ea typeface="Arial"/>
                <a:cs typeface="Arial"/>
                <a:sym typeface="Arial"/>
              </a:rPr>
              <a:t>"Nothing breaks forever in a lab."</a:t>
            </a:r>
            <a:r>
              <a:rPr lang="en-US" sz="1100">
                <a:latin typeface="Arial"/>
                <a:ea typeface="Arial"/>
                <a:cs typeface="Arial"/>
                <a:sym typeface="Arial"/>
              </a:rPr>
              <a:t> Say it when something goes wrong (and something will).</a:t>
            </a:r>
            <a:endParaRPr/>
          </a:p>
        </p:txBody>
      </p:sp>
      <p:sp>
        <p:nvSpPr>
          <p:cNvPr id="124" name="Google Shape;124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4" name="Google Shape;154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latin typeface="Arial"/>
                <a:ea typeface="Arial"/>
                <a:cs typeface="Arial"/>
                <a:sym typeface="Arial"/>
              </a:rPr>
              <a:t>Ask: </a:t>
            </a:r>
            <a:r>
              <a:rPr i="1" lang="en-US" sz="1100">
                <a:latin typeface="Arial"/>
                <a:ea typeface="Arial"/>
                <a:cs typeface="Arial"/>
                <a:sym typeface="Arial"/>
              </a:rPr>
              <a:t>"Have you ever written something on a computer and wanted it to look nice, but you didn't have Word or Google Docs?"</a:t>
            </a:r>
            <a:r>
              <a:rPr lang="en-US" sz="1100">
                <a:latin typeface="Arial"/>
                <a:ea typeface="Arial"/>
                <a:cs typeface="Arial"/>
                <a:sym typeface="Arial"/>
              </a:rPr>
              <a:t> Markdown is the answer. It's plain text that looks great anywhere — GitHub, websites, documentation.</a:t>
            </a:r>
            <a:endParaRPr/>
          </a:p>
        </p:txBody>
      </p:sp>
      <p:sp>
        <p:nvSpPr>
          <p:cNvPr id="155" name="Google Shape;155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7" name="Google Shape;16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3" name="Google Shape;19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7" name="Google Shape;227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8" name="Google Shape;228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0" name="Google Shape;240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6" name="Google Shape;266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7" name="Google Shape;267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0" name="Google Shape;30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1" name="Google Shape;301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3" name="Google Shape;313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9" name="Google Shape;33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0" name="Google Shape;340;p1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3" name="Google Shape;373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4" name="Google Shape;374;p1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6" name="Google Shape;386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7" name="Google Shape;387;p1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0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12" name="Google Shape;412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3" name="Google Shape;413;p1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4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46" name="Google Shape;446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7" name="Google Shape;447;p1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59" name="Google Shape;45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0" name="Google Shape;460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3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Google Shape;48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85" name="Google Shape;485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6" name="Google Shape;486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7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Google Shape;518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19" name="Google Shape;51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0" name="Google Shape;520;p2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0" name="Shape 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Google Shape;531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32" name="Google Shape;532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3" name="Google Shape;533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6" name="Shape 5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7" name="Google Shape;557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58" name="Google Shape;558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9" name="Google Shape;559;p2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0" name="Shape 5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1" name="Google Shape;591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92" name="Google Shape;59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3" name="Google Shape;593;p2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3" name="Shape 6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Google Shape;604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5" name="Google Shape;605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6" name="Google Shape;606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9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31" name="Google Shape;631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2" name="Google Shape;632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3" name="Shape 6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4" name="Google Shape;664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65" name="Google Shape;665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6" name="Google Shape;666;p2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6" name="Shape 6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7" name="Google Shape;677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8" name="Google Shape;678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9" name="Google Shape;679;p2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2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4" name="Google Shape;704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5" name="Google Shape;705;p2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6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8" name="Google Shape;738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9" name="Google Shape;739;p3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9" name="Shape 7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0" name="Google Shape;750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1" name="Google Shape;75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2" name="Google Shape;752;p3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5" name="Shape 7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6" name="Google Shape;776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7" name="Google Shape;77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8" name="Google Shape;778;p3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1" name="Google Shape;811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2" name="Google Shape;812;p3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2" name="Shape 8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3" name="Google Shape;823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4" name="Google Shape;824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5" name="Google Shape;825;p3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8" name="Shape 8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" name="Google Shape;849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50" name="Google Shape;850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1" name="Google Shape;851;p3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2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4" name="Google Shape;884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5" name="Google Shape;885;p3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1B2A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BCD4"/>
          </a:solidFill>
          <a:ln cap="flat" cmpd="sng" w="12700">
            <a:solidFill>
              <a:srgbClr val="00BC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" name="Google Shape;17;p1"/>
          <p:cNvSpPr/>
          <p:nvPr/>
        </p:nvSpPr>
        <p:spPr>
          <a:xfrm>
            <a:off x="548640" y="1280160"/>
            <a:ext cx="804672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400"/>
              <a:buFont typeface="Calibri"/>
              <a:buNone/>
            </a:pPr>
            <a:r>
              <a:rPr b="1" i="0" lang="en-US" sz="6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JS Bros Lab</a:t>
            </a:r>
            <a:endParaRPr b="0" i="0" sz="6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1"/>
          <p:cNvSpPr/>
          <p:nvPr/>
        </p:nvSpPr>
        <p:spPr>
          <a:xfrm>
            <a:off x="548640" y="2743200"/>
            <a:ext cx="80467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CD4"/>
              </a:buClr>
              <a:buSzPts val="2200"/>
              <a:buFont typeface="Calibri"/>
              <a:buNone/>
            </a:pPr>
            <a:r>
              <a:rPr b="0" i="0" lang="en-US" sz="2200" u="none" cap="none" strike="noStrike">
                <a:solidFill>
                  <a:srgbClr val="00BCD4"/>
                </a:solidFill>
                <a:latin typeface="Calibri"/>
                <a:ea typeface="Calibri"/>
                <a:cs typeface="Calibri"/>
                <a:sym typeface="Calibri"/>
              </a:rPr>
              <a:t>Lesson Deck · Lessons 01 – 11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548640" y="3383280"/>
            <a:ext cx="80467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600"/>
              <a:buFont typeface="Calibri"/>
              <a:buNone/>
            </a:pPr>
            <a:r>
              <a:rPr b="0" i="1" lang="en-US" sz="16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Learn to build. Build to learn.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1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B2A3B"/>
          </a:solidFill>
          <a:ln cap="flat" cmpd="sng" w="12700">
            <a:solidFill>
              <a:srgbClr val="1B2A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" name="Google Shape;21;p1"/>
          <p:cNvSpPr/>
          <p:nvPr/>
        </p:nvSpPr>
        <p:spPr>
          <a:xfrm>
            <a:off x="457200" y="4846320"/>
            <a:ext cx="8229600" cy="2971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js-bro-s.github.io/jsbros-lab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7FB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565C0"/>
          </a:solidFill>
          <a:ln cap="flat" cmpd="sng" w="12700">
            <a:solidFill>
              <a:srgbClr val="1565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320040" y="256032"/>
            <a:ext cx="8503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2800"/>
              <a:buFont typeface="Calibri"/>
              <a:buNone/>
            </a:pPr>
            <a:r>
              <a:rPr b="1" i="0" lang="en-US" sz="28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Curriculum Overview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"/>
          <p:cNvSpPr/>
          <p:nvPr/>
        </p:nvSpPr>
        <p:spPr>
          <a:xfrm>
            <a:off x="228600" y="960120"/>
            <a:ext cx="4160520" cy="530352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12700">
              <a:srgbClr val="000000">
                <a:alpha val="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" name="Google Shape;30;p2"/>
          <p:cNvSpPr/>
          <p:nvPr/>
        </p:nvSpPr>
        <p:spPr>
          <a:xfrm>
            <a:off x="228600" y="960120"/>
            <a:ext cx="320040" cy="530352"/>
          </a:xfrm>
          <a:prstGeom prst="rect">
            <a:avLst/>
          </a:prstGeom>
          <a:solidFill>
            <a:srgbClr val="00BCD4"/>
          </a:solidFill>
          <a:ln cap="flat" cmpd="sng" w="12700">
            <a:solidFill>
              <a:srgbClr val="00BC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" name="Google Shape;31;p2"/>
          <p:cNvSpPr/>
          <p:nvPr/>
        </p:nvSpPr>
        <p:spPr>
          <a:xfrm>
            <a:off x="228600" y="960120"/>
            <a:ext cx="3200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2"/>
          <p:cNvSpPr/>
          <p:nvPr/>
        </p:nvSpPr>
        <p:spPr>
          <a:xfrm>
            <a:off x="621792" y="1014984"/>
            <a:ext cx="36576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What We're Building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2"/>
          <p:cNvSpPr/>
          <p:nvPr/>
        </p:nvSpPr>
        <p:spPr>
          <a:xfrm>
            <a:off x="621792" y="1234440"/>
            <a:ext cx="3657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60 min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2"/>
          <p:cNvSpPr/>
          <p:nvPr/>
        </p:nvSpPr>
        <p:spPr>
          <a:xfrm>
            <a:off x="228600" y="1581912"/>
            <a:ext cx="4160520" cy="530352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12700">
              <a:srgbClr val="000000">
                <a:alpha val="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228600" y="1581912"/>
            <a:ext cx="320040" cy="530352"/>
          </a:xfrm>
          <a:prstGeom prst="rect">
            <a:avLst/>
          </a:prstGeom>
          <a:solidFill>
            <a:srgbClr val="1565C0"/>
          </a:solidFill>
          <a:ln cap="flat" cmpd="sng" w="12700">
            <a:solidFill>
              <a:srgbClr val="1565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228600" y="1581912"/>
            <a:ext cx="3200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2"/>
          <p:cNvSpPr/>
          <p:nvPr/>
        </p:nvSpPr>
        <p:spPr>
          <a:xfrm>
            <a:off x="621792" y="1636776"/>
            <a:ext cx="36576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Writing with Markdown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2"/>
          <p:cNvSpPr/>
          <p:nvPr/>
        </p:nvSpPr>
        <p:spPr>
          <a:xfrm>
            <a:off x="621792" y="1856232"/>
            <a:ext cx="3657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45 min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2"/>
          <p:cNvSpPr/>
          <p:nvPr/>
        </p:nvSpPr>
        <p:spPr>
          <a:xfrm>
            <a:off x="228600" y="2203704"/>
            <a:ext cx="4160520" cy="530352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12700">
              <a:srgbClr val="000000">
                <a:alpha val="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228600" y="2203704"/>
            <a:ext cx="320040" cy="530352"/>
          </a:xfrm>
          <a:prstGeom prst="rect">
            <a:avLst/>
          </a:prstGeom>
          <a:solidFill>
            <a:srgbClr val="06D6A0"/>
          </a:solidFill>
          <a:ln cap="flat" cmpd="sng" w="12700">
            <a:solidFill>
              <a:srgbClr val="06D6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228600" y="2203704"/>
            <a:ext cx="3200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2"/>
          <p:cNvSpPr/>
          <p:nvPr/>
        </p:nvSpPr>
        <p:spPr>
          <a:xfrm>
            <a:off x="621792" y="2258568"/>
            <a:ext cx="36576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Git in Action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2"/>
          <p:cNvSpPr/>
          <p:nvPr/>
        </p:nvSpPr>
        <p:spPr>
          <a:xfrm>
            <a:off x="621792" y="2478024"/>
            <a:ext cx="3657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60 min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2"/>
          <p:cNvSpPr/>
          <p:nvPr/>
        </p:nvSpPr>
        <p:spPr>
          <a:xfrm>
            <a:off x="228600" y="2825496"/>
            <a:ext cx="4160520" cy="530352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12700">
              <a:srgbClr val="000000">
                <a:alpha val="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228600" y="2825496"/>
            <a:ext cx="320040" cy="530352"/>
          </a:xfrm>
          <a:prstGeom prst="rect">
            <a:avLst/>
          </a:prstGeom>
          <a:solidFill>
            <a:srgbClr val="FFD166"/>
          </a:solidFill>
          <a:ln cap="flat" cmpd="sng" w="12700">
            <a:solidFill>
              <a:srgbClr val="FFD1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228600" y="2825496"/>
            <a:ext cx="3200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04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2"/>
          <p:cNvSpPr/>
          <p:nvPr/>
        </p:nvSpPr>
        <p:spPr>
          <a:xfrm>
            <a:off x="621792" y="2880360"/>
            <a:ext cx="36576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Roblox Studio Basics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2"/>
          <p:cNvSpPr/>
          <p:nvPr/>
        </p:nvSpPr>
        <p:spPr>
          <a:xfrm>
            <a:off x="621792" y="3099816"/>
            <a:ext cx="3657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60 min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2"/>
          <p:cNvSpPr/>
          <p:nvPr/>
        </p:nvSpPr>
        <p:spPr>
          <a:xfrm>
            <a:off x="228600" y="3447288"/>
            <a:ext cx="4160520" cy="530352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12700">
              <a:srgbClr val="000000">
                <a:alpha val="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" name="Google Shape;50;p2"/>
          <p:cNvSpPr/>
          <p:nvPr/>
        </p:nvSpPr>
        <p:spPr>
          <a:xfrm>
            <a:off x="228600" y="3447288"/>
            <a:ext cx="320040" cy="530352"/>
          </a:xfrm>
          <a:prstGeom prst="rect">
            <a:avLst/>
          </a:prstGeom>
          <a:solidFill>
            <a:srgbClr val="00BCD4"/>
          </a:solidFill>
          <a:ln cap="flat" cmpd="sng" w="12700">
            <a:solidFill>
              <a:srgbClr val="00BC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" name="Google Shape;51;p2"/>
          <p:cNvSpPr/>
          <p:nvPr/>
        </p:nvSpPr>
        <p:spPr>
          <a:xfrm>
            <a:off x="228600" y="3447288"/>
            <a:ext cx="3200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05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2"/>
          <p:cNvSpPr/>
          <p:nvPr/>
        </p:nvSpPr>
        <p:spPr>
          <a:xfrm>
            <a:off x="621792" y="3502152"/>
            <a:ext cx="36576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Lua Basics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2"/>
          <p:cNvSpPr/>
          <p:nvPr/>
        </p:nvSpPr>
        <p:spPr>
          <a:xfrm>
            <a:off x="621792" y="3721608"/>
            <a:ext cx="3657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60 min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2"/>
          <p:cNvSpPr/>
          <p:nvPr/>
        </p:nvSpPr>
        <p:spPr>
          <a:xfrm>
            <a:off x="228600" y="4069080"/>
            <a:ext cx="4160520" cy="530352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12700">
              <a:srgbClr val="000000">
                <a:alpha val="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" name="Google Shape;55;p2"/>
          <p:cNvSpPr/>
          <p:nvPr/>
        </p:nvSpPr>
        <p:spPr>
          <a:xfrm>
            <a:off x="228600" y="4069080"/>
            <a:ext cx="320040" cy="530352"/>
          </a:xfrm>
          <a:prstGeom prst="rect">
            <a:avLst/>
          </a:prstGeom>
          <a:solidFill>
            <a:srgbClr val="1565C0"/>
          </a:solidFill>
          <a:ln cap="flat" cmpd="sng" w="12700">
            <a:solidFill>
              <a:srgbClr val="1565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" name="Google Shape;56;p2"/>
          <p:cNvSpPr/>
          <p:nvPr/>
        </p:nvSpPr>
        <p:spPr>
          <a:xfrm>
            <a:off x="228600" y="4069080"/>
            <a:ext cx="3200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06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2"/>
          <p:cNvSpPr/>
          <p:nvPr/>
        </p:nvSpPr>
        <p:spPr>
          <a:xfrm>
            <a:off x="621792" y="4123944"/>
            <a:ext cx="36576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Loops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2"/>
          <p:cNvSpPr/>
          <p:nvPr/>
        </p:nvSpPr>
        <p:spPr>
          <a:xfrm>
            <a:off x="621792" y="4343400"/>
            <a:ext cx="3657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60 min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2"/>
          <p:cNvSpPr/>
          <p:nvPr/>
        </p:nvSpPr>
        <p:spPr>
          <a:xfrm>
            <a:off x="4754880" y="960120"/>
            <a:ext cx="4160520" cy="530352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12700">
              <a:srgbClr val="000000">
                <a:alpha val="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" name="Google Shape;60;p2"/>
          <p:cNvSpPr/>
          <p:nvPr/>
        </p:nvSpPr>
        <p:spPr>
          <a:xfrm>
            <a:off x="4754880" y="960120"/>
            <a:ext cx="320040" cy="530352"/>
          </a:xfrm>
          <a:prstGeom prst="rect">
            <a:avLst/>
          </a:prstGeom>
          <a:solidFill>
            <a:srgbClr val="06D6A0"/>
          </a:solidFill>
          <a:ln cap="flat" cmpd="sng" w="12700">
            <a:solidFill>
              <a:srgbClr val="06D6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" name="Google Shape;61;p2"/>
          <p:cNvSpPr/>
          <p:nvPr/>
        </p:nvSpPr>
        <p:spPr>
          <a:xfrm>
            <a:off x="4754880" y="960120"/>
            <a:ext cx="3200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07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2"/>
          <p:cNvSpPr/>
          <p:nvPr/>
        </p:nvSpPr>
        <p:spPr>
          <a:xfrm>
            <a:off x="5148072" y="1014984"/>
            <a:ext cx="36576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Functions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2"/>
          <p:cNvSpPr/>
          <p:nvPr/>
        </p:nvSpPr>
        <p:spPr>
          <a:xfrm>
            <a:off x="5148072" y="1234440"/>
            <a:ext cx="3657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60 min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2"/>
          <p:cNvSpPr/>
          <p:nvPr/>
        </p:nvSpPr>
        <p:spPr>
          <a:xfrm>
            <a:off x="4754880" y="1581912"/>
            <a:ext cx="4160520" cy="530352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12700">
              <a:srgbClr val="000000">
                <a:alpha val="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" name="Google Shape;65;p2"/>
          <p:cNvSpPr/>
          <p:nvPr/>
        </p:nvSpPr>
        <p:spPr>
          <a:xfrm>
            <a:off x="4754880" y="1581912"/>
            <a:ext cx="320040" cy="530352"/>
          </a:xfrm>
          <a:prstGeom prst="rect">
            <a:avLst/>
          </a:prstGeom>
          <a:solidFill>
            <a:srgbClr val="FFD166"/>
          </a:solidFill>
          <a:ln cap="flat" cmpd="sng" w="12700">
            <a:solidFill>
              <a:srgbClr val="FFD1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" name="Google Shape;66;p2"/>
          <p:cNvSpPr/>
          <p:nvPr/>
        </p:nvSpPr>
        <p:spPr>
          <a:xfrm>
            <a:off x="4754880" y="1581912"/>
            <a:ext cx="3200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08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2"/>
          <p:cNvSpPr/>
          <p:nvPr/>
        </p:nvSpPr>
        <p:spPr>
          <a:xfrm>
            <a:off x="5148072" y="1636776"/>
            <a:ext cx="36576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Tables &amp; Lists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2"/>
          <p:cNvSpPr/>
          <p:nvPr/>
        </p:nvSpPr>
        <p:spPr>
          <a:xfrm>
            <a:off x="5148072" y="1856232"/>
            <a:ext cx="3657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60 min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2"/>
          <p:cNvSpPr/>
          <p:nvPr/>
        </p:nvSpPr>
        <p:spPr>
          <a:xfrm>
            <a:off x="4754880" y="2203704"/>
            <a:ext cx="4160520" cy="530352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12700">
              <a:srgbClr val="000000">
                <a:alpha val="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" name="Google Shape;70;p2"/>
          <p:cNvSpPr/>
          <p:nvPr/>
        </p:nvSpPr>
        <p:spPr>
          <a:xfrm>
            <a:off x="4754880" y="2203704"/>
            <a:ext cx="320040" cy="530352"/>
          </a:xfrm>
          <a:prstGeom prst="rect">
            <a:avLst/>
          </a:prstGeom>
          <a:solidFill>
            <a:srgbClr val="00BCD4"/>
          </a:solidFill>
          <a:ln cap="flat" cmpd="sng" w="12700">
            <a:solidFill>
              <a:srgbClr val="00BC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2"/>
          <p:cNvSpPr/>
          <p:nvPr/>
        </p:nvSpPr>
        <p:spPr>
          <a:xfrm>
            <a:off x="4754880" y="2203704"/>
            <a:ext cx="3200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09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2"/>
          <p:cNvSpPr/>
          <p:nvPr/>
        </p:nvSpPr>
        <p:spPr>
          <a:xfrm>
            <a:off x="5148072" y="2258568"/>
            <a:ext cx="36576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Build Your First Game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2"/>
          <p:cNvSpPr/>
          <p:nvPr/>
        </p:nvSpPr>
        <p:spPr>
          <a:xfrm>
            <a:off x="5148072" y="2478024"/>
            <a:ext cx="3657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90 min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2"/>
          <p:cNvSpPr/>
          <p:nvPr/>
        </p:nvSpPr>
        <p:spPr>
          <a:xfrm>
            <a:off x="4754880" y="2825496"/>
            <a:ext cx="4160520" cy="530352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12700">
              <a:srgbClr val="000000">
                <a:alpha val="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" name="Google Shape;75;p2"/>
          <p:cNvSpPr/>
          <p:nvPr/>
        </p:nvSpPr>
        <p:spPr>
          <a:xfrm>
            <a:off x="4754880" y="2825496"/>
            <a:ext cx="320040" cy="530352"/>
          </a:xfrm>
          <a:prstGeom prst="rect">
            <a:avLst/>
          </a:prstGeom>
          <a:solidFill>
            <a:srgbClr val="1565C0"/>
          </a:solidFill>
          <a:ln cap="flat" cmpd="sng" w="12700">
            <a:solidFill>
              <a:srgbClr val="1565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" name="Google Shape;76;p2"/>
          <p:cNvSpPr/>
          <p:nvPr/>
        </p:nvSpPr>
        <p:spPr>
          <a:xfrm>
            <a:off x="4754880" y="2825496"/>
            <a:ext cx="3200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2"/>
          <p:cNvSpPr/>
          <p:nvPr/>
        </p:nvSpPr>
        <p:spPr>
          <a:xfrm>
            <a:off x="5148072" y="2880360"/>
            <a:ext cx="36576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GUI &amp; Score Display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2"/>
          <p:cNvSpPr/>
          <p:nvPr/>
        </p:nvSpPr>
        <p:spPr>
          <a:xfrm>
            <a:off x="5148072" y="3099816"/>
            <a:ext cx="3657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60 min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2"/>
          <p:cNvSpPr/>
          <p:nvPr/>
        </p:nvSpPr>
        <p:spPr>
          <a:xfrm>
            <a:off x="4754880" y="3447288"/>
            <a:ext cx="4160520" cy="530352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12700">
              <a:srgbClr val="000000">
                <a:alpha val="7843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" name="Google Shape;80;p2"/>
          <p:cNvSpPr/>
          <p:nvPr/>
        </p:nvSpPr>
        <p:spPr>
          <a:xfrm>
            <a:off x="4754880" y="3447288"/>
            <a:ext cx="320040" cy="530352"/>
          </a:xfrm>
          <a:prstGeom prst="rect">
            <a:avLst/>
          </a:prstGeom>
          <a:solidFill>
            <a:srgbClr val="06D6A0"/>
          </a:solidFill>
          <a:ln cap="flat" cmpd="sng" w="12700">
            <a:solidFill>
              <a:srgbClr val="06D6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" name="Google Shape;81;p2"/>
          <p:cNvSpPr/>
          <p:nvPr/>
        </p:nvSpPr>
        <p:spPr>
          <a:xfrm>
            <a:off x="4754880" y="3447288"/>
            <a:ext cx="3200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11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2"/>
          <p:cNvSpPr/>
          <p:nvPr/>
        </p:nvSpPr>
        <p:spPr>
          <a:xfrm>
            <a:off x="5148072" y="3502152"/>
            <a:ext cx="36576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Sounds &amp; Effects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2"/>
          <p:cNvSpPr/>
          <p:nvPr/>
        </p:nvSpPr>
        <p:spPr>
          <a:xfrm>
            <a:off x="5148072" y="3721608"/>
            <a:ext cx="3657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60 min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2"/>
          <p:cNvSpPr/>
          <p:nvPr/>
        </p:nvSpPr>
        <p:spPr>
          <a:xfrm>
            <a:off x="182880" y="4846320"/>
            <a:ext cx="87782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JS Bros Lab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1B2A"/>
        </a:solidFill>
      </p:bgPr>
    </p:bg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3"/>
          <p:cNvSpPr/>
          <p:nvPr/>
        </p:nvSpPr>
        <p:spPr>
          <a:xfrm>
            <a:off x="0" y="0"/>
            <a:ext cx="457200" cy="5143500"/>
          </a:xfrm>
          <a:prstGeom prst="rect">
            <a:avLst/>
          </a:prstGeom>
          <a:solidFill>
            <a:srgbClr val="00BCD4"/>
          </a:solidFill>
          <a:ln cap="flat" cmpd="sng" w="12700">
            <a:solidFill>
              <a:srgbClr val="00BC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3"/>
          <p:cNvSpPr/>
          <p:nvPr/>
        </p:nvSpPr>
        <p:spPr>
          <a:xfrm>
            <a:off x="640080" y="457200"/>
            <a:ext cx="320040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CD4"/>
              </a:buClr>
              <a:buSzPts val="13000"/>
              <a:buFont typeface="Calibri"/>
              <a:buNone/>
            </a:pPr>
            <a:r>
              <a:rPr b="1" i="0" lang="en-US" sz="13000" u="none" cap="none" strike="noStrike">
                <a:solidFill>
                  <a:srgbClr val="00BCD4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 b="0" i="0" sz="1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3"/>
          <p:cNvSpPr/>
          <p:nvPr/>
        </p:nvSpPr>
        <p:spPr>
          <a:xfrm>
            <a:off x="640080" y="502920"/>
            <a:ext cx="2743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CD4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0BCD4"/>
                </a:solidFill>
                <a:latin typeface="Calibri"/>
                <a:ea typeface="Calibri"/>
                <a:cs typeface="Calibri"/>
                <a:sym typeface="Calibri"/>
              </a:rPr>
              <a:t>LESSON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3"/>
          <p:cNvSpPr/>
          <p:nvPr/>
        </p:nvSpPr>
        <p:spPr>
          <a:xfrm>
            <a:off x="640080" y="2651760"/>
            <a:ext cx="804672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800"/>
              <a:buFont typeface="Calibri"/>
              <a:buNone/>
            </a:pPr>
            <a:r>
              <a:rPr b="1" i="0" lang="en-US" sz="3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What We're Building</a:t>
            </a:r>
            <a:endParaRPr b="0" i="0" sz="3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3"/>
          <p:cNvSpPr/>
          <p:nvPr/>
        </p:nvSpPr>
        <p:spPr>
          <a:xfrm>
            <a:off x="640080" y="3703320"/>
            <a:ext cx="77724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800"/>
              <a:buFont typeface="Calibri"/>
              <a:buNone/>
            </a:pPr>
            <a:r>
              <a:rPr b="0" i="0" lang="en-US" sz="18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Setting up our lab and understanding the big picture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3"/>
          <p:cNvSpPr/>
          <p:nvPr/>
        </p:nvSpPr>
        <p:spPr>
          <a:xfrm>
            <a:off x="7132320" y="274320"/>
            <a:ext cx="1737360" cy="384048"/>
          </a:xfrm>
          <a:prstGeom prst="roundRect">
            <a:avLst>
              <a:gd fmla="val 14286" name="adj"/>
            </a:avLst>
          </a:prstGeom>
          <a:solidFill>
            <a:srgbClr val="00BCD4"/>
          </a:solidFill>
          <a:ln cap="flat" cmpd="sng" w="12700">
            <a:solidFill>
              <a:srgbClr val="00BC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3"/>
          <p:cNvSpPr/>
          <p:nvPr/>
        </p:nvSpPr>
        <p:spPr>
          <a:xfrm>
            <a:off x="7132320" y="274320"/>
            <a:ext cx="17373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⏱ 60 min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3"/>
          <p:cNvSpPr/>
          <p:nvPr/>
        </p:nvSpPr>
        <p:spPr>
          <a:xfrm>
            <a:off x="182880" y="4846320"/>
            <a:ext cx="87782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JS Bros Lab · Lesson 01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7FB"/>
        </a:solidFill>
      </p:bgPr>
    </p:bg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4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0BCD4"/>
          </a:solidFill>
          <a:ln cap="flat" cmpd="sng" w="12700">
            <a:solidFill>
              <a:srgbClr val="00BC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p4"/>
          <p:cNvSpPr/>
          <p:nvPr/>
        </p:nvSpPr>
        <p:spPr>
          <a:xfrm>
            <a:off x="502920" y="365760"/>
            <a:ext cx="1005840" cy="438912"/>
          </a:xfrm>
          <a:prstGeom prst="roundRect">
            <a:avLst>
              <a:gd fmla="val 16667" name="adj"/>
            </a:avLst>
          </a:prstGeom>
          <a:solidFill>
            <a:srgbClr val="00BCD4"/>
          </a:solidFill>
          <a:ln cap="flat" cmpd="sng" w="12700">
            <a:solidFill>
              <a:srgbClr val="00BC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4"/>
          <p:cNvSpPr/>
          <p:nvPr/>
        </p:nvSpPr>
        <p:spPr>
          <a:xfrm>
            <a:off x="502920" y="365760"/>
            <a:ext cx="100584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4"/>
          <p:cNvSpPr/>
          <p:nvPr/>
        </p:nvSpPr>
        <p:spPr>
          <a:xfrm>
            <a:off x="1691640" y="320040"/>
            <a:ext cx="72237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Key Concepts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4"/>
          <p:cNvSpPr/>
          <p:nvPr/>
        </p:nvSpPr>
        <p:spPr>
          <a:xfrm>
            <a:off x="228600" y="914400"/>
            <a:ext cx="8686800" cy="384048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8100000" dist="25400">
              <a:srgbClr val="000000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" name="Google Shape;108;p4"/>
          <p:cNvSpPr/>
          <p:nvPr/>
        </p:nvSpPr>
        <p:spPr>
          <a:xfrm>
            <a:off x="411480" y="1051560"/>
            <a:ext cx="347472" cy="347472"/>
          </a:xfrm>
          <a:prstGeom prst="ellipse">
            <a:avLst/>
          </a:prstGeom>
          <a:solidFill>
            <a:srgbClr val="00BCD4"/>
          </a:solidFill>
          <a:ln cap="flat" cmpd="sng" w="12700">
            <a:solidFill>
              <a:srgbClr val="00BC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" name="Google Shape;109;p4"/>
          <p:cNvSpPr/>
          <p:nvPr/>
        </p:nvSpPr>
        <p:spPr>
          <a:xfrm>
            <a:off x="411480" y="105156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4"/>
          <p:cNvSpPr/>
          <p:nvPr/>
        </p:nvSpPr>
        <p:spPr>
          <a:xfrm>
            <a:off x="868680" y="1005840"/>
            <a:ext cx="78638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600"/>
              <a:buFont typeface="Courier New"/>
              <a:buNone/>
            </a:pPr>
            <a:r>
              <a:rPr b="0" i="0" lang="en-US" sz="1600" u="none" cap="none" strike="noStrike">
                <a:solidFill>
                  <a:srgbClr val="0D1B2A"/>
                </a:solidFill>
                <a:latin typeface="Courier New"/>
                <a:ea typeface="Courier New"/>
                <a:cs typeface="Courier New"/>
                <a:sym typeface="Courier New"/>
              </a:rPr>
              <a:t>A repository (repo) = project folder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4"/>
          <p:cNvSpPr/>
          <p:nvPr/>
        </p:nvSpPr>
        <p:spPr>
          <a:xfrm>
            <a:off x="411480" y="1719072"/>
            <a:ext cx="347472" cy="347472"/>
          </a:xfrm>
          <a:prstGeom prst="ellipse">
            <a:avLst/>
          </a:prstGeom>
          <a:solidFill>
            <a:srgbClr val="00BCD4"/>
          </a:solidFill>
          <a:ln cap="flat" cmpd="sng" w="12700">
            <a:solidFill>
              <a:srgbClr val="00BC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"/>
          <p:cNvSpPr/>
          <p:nvPr/>
        </p:nvSpPr>
        <p:spPr>
          <a:xfrm>
            <a:off x="411480" y="1719072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4"/>
          <p:cNvSpPr/>
          <p:nvPr/>
        </p:nvSpPr>
        <p:spPr>
          <a:xfrm>
            <a:off x="868680" y="1673352"/>
            <a:ext cx="78638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600"/>
              <a:buFont typeface="Courier New"/>
              <a:buNone/>
            </a:pPr>
            <a:r>
              <a:rPr b="0" i="0" lang="en-US" sz="1600" u="none" cap="none" strike="noStrike">
                <a:solidFill>
                  <a:srgbClr val="0D1B2A"/>
                </a:solidFill>
                <a:latin typeface="Courier New"/>
                <a:ea typeface="Courier New"/>
                <a:cs typeface="Courier New"/>
                <a:sym typeface="Courier New"/>
              </a:rPr>
              <a:t>A commit = save point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4"/>
          <p:cNvSpPr/>
          <p:nvPr/>
        </p:nvSpPr>
        <p:spPr>
          <a:xfrm>
            <a:off x="411480" y="2386584"/>
            <a:ext cx="347472" cy="347472"/>
          </a:xfrm>
          <a:prstGeom prst="ellipse">
            <a:avLst/>
          </a:prstGeom>
          <a:solidFill>
            <a:srgbClr val="00BCD4"/>
          </a:solidFill>
          <a:ln cap="flat" cmpd="sng" w="12700">
            <a:solidFill>
              <a:srgbClr val="00BC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" name="Google Shape;115;p4"/>
          <p:cNvSpPr/>
          <p:nvPr/>
        </p:nvSpPr>
        <p:spPr>
          <a:xfrm>
            <a:off x="411480" y="2386584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4"/>
          <p:cNvSpPr/>
          <p:nvPr/>
        </p:nvSpPr>
        <p:spPr>
          <a:xfrm>
            <a:off x="868680" y="2340864"/>
            <a:ext cx="78638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600"/>
              <a:buFont typeface="Courier New"/>
              <a:buNone/>
            </a:pPr>
            <a:r>
              <a:rPr b="0" i="0" lang="en-US" sz="1600" u="none" cap="none" strike="noStrike">
                <a:solidFill>
                  <a:srgbClr val="0D1B2A"/>
                </a:solidFill>
                <a:latin typeface="Courier New"/>
                <a:ea typeface="Courier New"/>
                <a:cs typeface="Courier New"/>
                <a:sym typeface="Courier New"/>
              </a:rPr>
              <a:t>GitHub = cloud backup + teamwork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4"/>
          <p:cNvSpPr/>
          <p:nvPr/>
        </p:nvSpPr>
        <p:spPr>
          <a:xfrm>
            <a:off x="411480" y="3054096"/>
            <a:ext cx="347472" cy="347472"/>
          </a:xfrm>
          <a:prstGeom prst="ellipse">
            <a:avLst/>
          </a:prstGeom>
          <a:solidFill>
            <a:srgbClr val="00BCD4"/>
          </a:solidFill>
          <a:ln cap="flat" cmpd="sng" w="12700">
            <a:solidFill>
              <a:srgbClr val="00BC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"/>
          <p:cNvSpPr/>
          <p:nvPr/>
        </p:nvSpPr>
        <p:spPr>
          <a:xfrm>
            <a:off x="411480" y="3054096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4"/>
          <p:cNvSpPr/>
          <p:nvPr/>
        </p:nvSpPr>
        <p:spPr>
          <a:xfrm>
            <a:off x="868680" y="3008376"/>
            <a:ext cx="78638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600"/>
              <a:buFont typeface="Courier New"/>
              <a:buNone/>
            </a:pPr>
            <a:r>
              <a:rPr b="0" i="0" lang="en-US" sz="1600" u="none" cap="none" strike="noStrike">
                <a:solidFill>
                  <a:srgbClr val="0D1B2A"/>
                </a:solidFill>
                <a:latin typeface="Courier New"/>
                <a:ea typeface="Courier New"/>
                <a:cs typeface="Courier New"/>
                <a:sym typeface="Courier New"/>
              </a:rPr>
              <a:t>The JS Bros universe: Games, Lab, Prints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4"/>
          <p:cNvSpPr/>
          <p:nvPr/>
        </p:nvSpPr>
        <p:spPr>
          <a:xfrm>
            <a:off x="182880" y="4846320"/>
            <a:ext cx="87782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JS Bros Lab · Lesson 01 · Key Concepts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7FB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5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0BCD4"/>
          </a:solidFill>
          <a:ln cap="flat" cmpd="sng" w="12700">
            <a:solidFill>
              <a:srgbClr val="00BC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5"/>
          <p:cNvSpPr/>
          <p:nvPr/>
        </p:nvSpPr>
        <p:spPr>
          <a:xfrm>
            <a:off x="502920" y="365760"/>
            <a:ext cx="1005840" cy="438912"/>
          </a:xfrm>
          <a:prstGeom prst="roundRect">
            <a:avLst>
              <a:gd fmla="val 16667" name="adj"/>
            </a:avLst>
          </a:prstGeom>
          <a:solidFill>
            <a:srgbClr val="00BCD4"/>
          </a:solidFill>
          <a:ln cap="flat" cmpd="sng" w="12700">
            <a:solidFill>
              <a:srgbClr val="00BC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p5"/>
          <p:cNvSpPr/>
          <p:nvPr/>
        </p:nvSpPr>
        <p:spPr>
          <a:xfrm>
            <a:off x="502920" y="365760"/>
            <a:ext cx="100584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5"/>
          <p:cNvSpPr/>
          <p:nvPr/>
        </p:nvSpPr>
        <p:spPr>
          <a:xfrm>
            <a:off x="1691640" y="320040"/>
            <a:ext cx="72237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Try It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5"/>
          <p:cNvSpPr/>
          <p:nvPr/>
        </p:nvSpPr>
        <p:spPr>
          <a:xfrm>
            <a:off x="228600" y="914400"/>
            <a:ext cx="5669280" cy="457200"/>
          </a:xfrm>
          <a:prstGeom prst="rect">
            <a:avLst/>
          </a:prstGeom>
          <a:solidFill>
            <a:srgbClr val="00BCD4"/>
          </a:solidFill>
          <a:ln cap="flat" cmpd="sng" w="12700">
            <a:solidFill>
              <a:srgbClr val="00BC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5"/>
          <p:cNvSpPr/>
          <p:nvPr/>
        </p:nvSpPr>
        <p:spPr>
          <a:xfrm>
            <a:off x="320040" y="914400"/>
            <a:ext cx="5486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First Real Action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5"/>
          <p:cNvSpPr/>
          <p:nvPr/>
        </p:nvSpPr>
        <p:spPr>
          <a:xfrm>
            <a:off x="228600" y="1371600"/>
            <a:ext cx="5669280" cy="246888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12700">
              <a:srgbClr val="000000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" name="Google Shape;133;p5"/>
          <p:cNvSpPr/>
          <p:nvPr/>
        </p:nvSpPr>
        <p:spPr>
          <a:xfrm>
            <a:off x="347472" y="1508760"/>
            <a:ext cx="274320" cy="274320"/>
          </a:xfrm>
          <a:prstGeom prst="rect">
            <a:avLst/>
          </a:prstGeom>
          <a:solidFill>
            <a:srgbClr val="00BCD4"/>
          </a:solidFill>
          <a:ln cap="flat" cmpd="sng" w="12700">
            <a:solidFill>
              <a:srgbClr val="00BC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5"/>
          <p:cNvSpPr/>
          <p:nvPr/>
        </p:nvSpPr>
        <p:spPr>
          <a:xfrm>
            <a:off x="347472" y="1508760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5"/>
          <p:cNvSpPr/>
          <p:nvPr/>
        </p:nvSpPr>
        <p:spPr>
          <a:xfrm>
            <a:off x="713232" y="1463040"/>
            <a:ext cx="50749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Open the jsbros-lab repo on GitHub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5"/>
          <p:cNvSpPr/>
          <p:nvPr/>
        </p:nvSpPr>
        <p:spPr>
          <a:xfrm>
            <a:off x="347472" y="1956816"/>
            <a:ext cx="274320" cy="274320"/>
          </a:xfrm>
          <a:prstGeom prst="rect">
            <a:avLst/>
          </a:prstGeom>
          <a:solidFill>
            <a:srgbClr val="00BCD4"/>
          </a:solidFill>
          <a:ln cap="flat" cmpd="sng" w="12700">
            <a:solidFill>
              <a:srgbClr val="00BC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5"/>
          <p:cNvSpPr/>
          <p:nvPr/>
        </p:nvSpPr>
        <p:spPr>
          <a:xfrm>
            <a:off x="347472" y="1956816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5"/>
          <p:cNvSpPr/>
          <p:nvPr/>
        </p:nvSpPr>
        <p:spPr>
          <a:xfrm>
            <a:off x="713232" y="1911096"/>
            <a:ext cx="50749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Read through the README together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5"/>
          <p:cNvSpPr/>
          <p:nvPr/>
        </p:nvSpPr>
        <p:spPr>
          <a:xfrm>
            <a:off x="347472" y="2404872"/>
            <a:ext cx="274320" cy="274320"/>
          </a:xfrm>
          <a:prstGeom prst="rect">
            <a:avLst/>
          </a:prstGeom>
          <a:solidFill>
            <a:srgbClr val="00BCD4"/>
          </a:solidFill>
          <a:ln cap="flat" cmpd="sng" w="12700">
            <a:solidFill>
              <a:srgbClr val="00BC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" name="Google Shape;140;p5"/>
          <p:cNvSpPr/>
          <p:nvPr/>
        </p:nvSpPr>
        <p:spPr>
          <a:xfrm>
            <a:off x="347472" y="2404872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5"/>
          <p:cNvSpPr/>
          <p:nvPr/>
        </p:nvSpPr>
        <p:spPr>
          <a:xfrm>
            <a:off x="713232" y="2359152"/>
            <a:ext cx="50749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Click through folders — what do you see?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5"/>
          <p:cNvSpPr/>
          <p:nvPr/>
        </p:nvSpPr>
        <p:spPr>
          <a:xfrm>
            <a:off x="347472" y="2852928"/>
            <a:ext cx="274320" cy="274320"/>
          </a:xfrm>
          <a:prstGeom prst="rect">
            <a:avLst/>
          </a:prstGeom>
          <a:solidFill>
            <a:srgbClr val="00BCD4"/>
          </a:solidFill>
          <a:ln cap="flat" cmpd="sng" w="12700">
            <a:solidFill>
              <a:srgbClr val="00BC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5"/>
          <p:cNvSpPr/>
          <p:nvPr/>
        </p:nvSpPr>
        <p:spPr>
          <a:xfrm>
            <a:off x="347472" y="2852928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5"/>
          <p:cNvSpPr/>
          <p:nvPr/>
        </p:nvSpPr>
        <p:spPr>
          <a:xfrm>
            <a:off x="713232" y="2807208"/>
            <a:ext cx="50749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Clone the repo to your computer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5"/>
          <p:cNvSpPr/>
          <p:nvPr/>
        </p:nvSpPr>
        <p:spPr>
          <a:xfrm>
            <a:off x="228600" y="3931920"/>
            <a:ext cx="5669280" cy="777240"/>
          </a:xfrm>
          <a:prstGeom prst="rect">
            <a:avLst/>
          </a:prstGeom>
          <a:solidFill>
            <a:srgbClr val="1B2A3B"/>
          </a:solidFill>
          <a:ln cap="flat" cmpd="sng" w="12700">
            <a:solidFill>
              <a:srgbClr val="1B2A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5"/>
          <p:cNvSpPr/>
          <p:nvPr/>
        </p:nvSpPr>
        <p:spPr>
          <a:xfrm>
            <a:off x="411480" y="3931920"/>
            <a:ext cx="54864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CD4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rgbClr val="00BCD4"/>
                </a:solidFill>
                <a:latin typeface="Calibri"/>
                <a:ea typeface="Calibri"/>
                <a:cs typeface="Calibri"/>
                <a:sym typeface="Calibri"/>
              </a:rPr>
              <a:t>"Nothing breaks forever in a lab."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5"/>
          <p:cNvSpPr/>
          <p:nvPr/>
        </p:nvSpPr>
        <p:spPr>
          <a:xfrm>
            <a:off x="6035040" y="914400"/>
            <a:ext cx="2880360" cy="379476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12700">
              <a:srgbClr val="000000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p5"/>
          <p:cNvSpPr/>
          <p:nvPr/>
        </p:nvSpPr>
        <p:spPr>
          <a:xfrm>
            <a:off x="6035040" y="914400"/>
            <a:ext cx="2880360" cy="457200"/>
          </a:xfrm>
          <a:prstGeom prst="rect">
            <a:avLst/>
          </a:prstGeom>
          <a:solidFill>
            <a:srgbClr val="1B2A3B"/>
          </a:solidFill>
          <a:ln cap="flat" cmpd="sng" w="12700">
            <a:solidFill>
              <a:srgbClr val="1B2A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5"/>
          <p:cNvSpPr/>
          <p:nvPr/>
        </p:nvSpPr>
        <p:spPr>
          <a:xfrm>
            <a:off x="6126480" y="914400"/>
            <a:ext cx="2743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CD4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0BCD4"/>
                </a:solidFill>
                <a:latin typeface="Calibri"/>
                <a:ea typeface="Calibri"/>
                <a:cs typeface="Calibri"/>
                <a:sym typeface="Calibri"/>
              </a:rPr>
              <a:t>SKILLS UNLOCKED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5"/>
          <p:cNvSpPr/>
          <p:nvPr/>
        </p:nvSpPr>
        <p:spPr>
          <a:xfrm>
            <a:off x="6126480" y="1463040"/>
            <a:ext cx="2697480" cy="3108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Understands repos, commits &amp; GitHub · Cloned a repo locally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5"/>
          <p:cNvSpPr/>
          <p:nvPr/>
        </p:nvSpPr>
        <p:spPr>
          <a:xfrm>
            <a:off x="182880" y="4846320"/>
            <a:ext cx="87782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JS Bros Lab · Lesson 01 · Activity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1B2A"/>
        </a:solidFill>
      </p:bgPr>
    </p:bg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6"/>
          <p:cNvSpPr/>
          <p:nvPr/>
        </p:nvSpPr>
        <p:spPr>
          <a:xfrm>
            <a:off x="0" y="0"/>
            <a:ext cx="457200" cy="5143500"/>
          </a:xfrm>
          <a:prstGeom prst="rect">
            <a:avLst/>
          </a:prstGeom>
          <a:solidFill>
            <a:srgbClr val="1565C0"/>
          </a:solidFill>
          <a:ln cap="flat" cmpd="sng" w="12700">
            <a:solidFill>
              <a:srgbClr val="1565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6"/>
          <p:cNvSpPr/>
          <p:nvPr/>
        </p:nvSpPr>
        <p:spPr>
          <a:xfrm>
            <a:off x="640080" y="457200"/>
            <a:ext cx="320040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565C0"/>
              </a:buClr>
              <a:buSzPts val="13000"/>
              <a:buFont typeface="Calibri"/>
              <a:buNone/>
            </a:pPr>
            <a:r>
              <a:rPr b="1" i="0" lang="en-US" sz="13000" u="none" cap="none" strike="noStrike">
                <a:solidFill>
                  <a:srgbClr val="1565C0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 b="0" i="0" sz="1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6"/>
          <p:cNvSpPr/>
          <p:nvPr/>
        </p:nvSpPr>
        <p:spPr>
          <a:xfrm>
            <a:off x="640080" y="502920"/>
            <a:ext cx="2743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565C0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565C0"/>
                </a:solidFill>
                <a:latin typeface="Calibri"/>
                <a:ea typeface="Calibri"/>
                <a:cs typeface="Calibri"/>
                <a:sym typeface="Calibri"/>
              </a:rPr>
              <a:t>LESSON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6"/>
          <p:cNvSpPr/>
          <p:nvPr/>
        </p:nvSpPr>
        <p:spPr>
          <a:xfrm>
            <a:off x="640080" y="2651760"/>
            <a:ext cx="804672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800"/>
              <a:buFont typeface="Calibri"/>
              <a:buNone/>
            </a:pPr>
            <a:r>
              <a:rPr b="1" i="0" lang="en-US" sz="3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Writing with Markdown</a:t>
            </a:r>
            <a:endParaRPr b="0" i="0" sz="3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6"/>
          <p:cNvSpPr/>
          <p:nvPr/>
        </p:nvSpPr>
        <p:spPr>
          <a:xfrm>
            <a:off x="640080" y="3703320"/>
            <a:ext cx="77724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800"/>
              <a:buFont typeface="Calibri"/>
              <a:buNone/>
            </a:pPr>
            <a:r>
              <a:rPr b="0" i="0" lang="en-US" sz="18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Formatting text so it looks great everywhere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6"/>
          <p:cNvSpPr/>
          <p:nvPr/>
        </p:nvSpPr>
        <p:spPr>
          <a:xfrm>
            <a:off x="7132320" y="274320"/>
            <a:ext cx="1737360" cy="384048"/>
          </a:xfrm>
          <a:prstGeom prst="roundRect">
            <a:avLst>
              <a:gd fmla="val 14286" name="adj"/>
            </a:avLst>
          </a:prstGeom>
          <a:solidFill>
            <a:srgbClr val="1565C0"/>
          </a:solidFill>
          <a:ln cap="flat" cmpd="sng" w="12700">
            <a:solidFill>
              <a:srgbClr val="1565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" name="Google Shape;163;p6"/>
          <p:cNvSpPr/>
          <p:nvPr/>
        </p:nvSpPr>
        <p:spPr>
          <a:xfrm>
            <a:off x="7132320" y="274320"/>
            <a:ext cx="17373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⏱ 45 min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6"/>
          <p:cNvSpPr/>
          <p:nvPr/>
        </p:nvSpPr>
        <p:spPr>
          <a:xfrm>
            <a:off x="182880" y="4846320"/>
            <a:ext cx="87782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JS Bros Lab · Lesson 02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7FB"/>
        </a:solidFill>
      </p:bgPr>
    </p:bg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7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565C0"/>
          </a:solidFill>
          <a:ln cap="flat" cmpd="sng" w="12700">
            <a:solidFill>
              <a:srgbClr val="1565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7"/>
          <p:cNvSpPr/>
          <p:nvPr/>
        </p:nvSpPr>
        <p:spPr>
          <a:xfrm>
            <a:off x="502920" y="365760"/>
            <a:ext cx="1005840" cy="438912"/>
          </a:xfrm>
          <a:prstGeom prst="roundRect">
            <a:avLst>
              <a:gd fmla="val 16667" name="adj"/>
            </a:avLst>
          </a:prstGeom>
          <a:solidFill>
            <a:srgbClr val="1565C0"/>
          </a:solidFill>
          <a:ln cap="flat" cmpd="sng" w="12700">
            <a:solidFill>
              <a:srgbClr val="1565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" name="Google Shape;172;p7"/>
          <p:cNvSpPr/>
          <p:nvPr/>
        </p:nvSpPr>
        <p:spPr>
          <a:xfrm>
            <a:off x="502920" y="365760"/>
            <a:ext cx="100584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7"/>
          <p:cNvSpPr/>
          <p:nvPr/>
        </p:nvSpPr>
        <p:spPr>
          <a:xfrm>
            <a:off x="1691640" y="320040"/>
            <a:ext cx="72237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Key Concepts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7"/>
          <p:cNvSpPr/>
          <p:nvPr/>
        </p:nvSpPr>
        <p:spPr>
          <a:xfrm>
            <a:off x="228600" y="914400"/>
            <a:ext cx="8686800" cy="384048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8100000" dist="25400">
              <a:srgbClr val="000000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7"/>
          <p:cNvSpPr/>
          <p:nvPr/>
        </p:nvSpPr>
        <p:spPr>
          <a:xfrm>
            <a:off x="411480" y="1051560"/>
            <a:ext cx="347472" cy="347472"/>
          </a:xfrm>
          <a:prstGeom prst="ellipse">
            <a:avLst/>
          </a:prstGeom>
          <a:solidFill>
            <a:srgbClr val="1565C0"/>
          </a:solidFill>
          <a:ln cap="flat" cmpd="sng" w="12700">
            <a:solidFill>
              <a:srgbClr val="1565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" name="Google Shape;176;p7"/>
          <p:cNvSpPr/>
          <p:nvPr/>
        </p:nvSpPr>
        <p:spPr>
          <a:xfrm>
            <a:off x="411480" y="105156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7"/>
          <p:cNvSpPr/>
          <p:nvPr/>
        </p:nvSpPr>
        <p:spPr>
          <a:xfrm>
            <a:off x="868680" y="1005840"/>
            <a:ext cx="78638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600"/>
              <a:buFont typeface="Courier New"/>
              <a:buNone/>
            </a:pPr>
            <a:r>
              <a:rPr b="0" i="0" lang="en-US" sz="1600" u="none" cap="none" strike="noStrike">
                <a:solidFill>
                  <a:srgbClr val="0D1B2A"/>
                </a:solidFill>
                <a:latin typeface="Courier New"/>
                <a:ea typeface="Courier New"/>
                <a:cs typeface="Courier New"/>
                <a:sym typeface="Courier New"/>
              </a:rPr>
              <a:t># Headings  — # Big  ## Medium  ### Small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7"/>
          <p:cNvSpPr/>
          <p:nvPr/>
        </p:nvSpPr>
        <p:spPr>
          <a:xfrm>
            <a:off x="411480" y="1719072"/>
            <a:ext cx="347472" cy="347472"/>
          </a:xfrm>
          <a:prstGeom prst="ellipse">
            <a:avLst/>
          </a:prstGeom>
          <a:solidFill>
            <a:srgbClr val="1565C0"/>
          </a:solidFill>
          <a:ln cap="flat" cmpd="sng" w="12700">
            <a:solidFill>
              <a:srgbClr val="1565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" name="Google Shape;179;p7"/>
          <p:cNvSpPr/>
          <p:nvPr/>
        </p:nvSpPr>
        <p:spPr>
          <a:xfrm>
            <a:off x="411480" y="1719072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7"/>
          <p:cNvSpPr/>
          <p:nvPr/>
        </p:nvSpPr>
        <p:spPr>
          <a:xfrm>
            <a:off x="868680" y="1673352"/>
            <a:ext cx="78638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600"/>
              <a:buFont typeface="Courier New"/>
              <a:buNone/>
            </a:pPr>
            <a:r>
              <a:rPr b="0" i="0" lang="en-US" sz="1600" u="none" cap="none" strike="noStrike">
                <a:solidFill>
                  <a:srgbClr val="0D1B2A"/>
                </a:solidFill>
                <a:latin typeface="Courier New"/>
                <a:ea typeface="Courier New"/>
                <a:cs typeface="Courier New"/>
                <a:sym typeface="Courier New"/>
              </a:rPr>
              <a:t>**Bold**  and  *italic*  text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7"/>
          <p:cNvSpPr/>
          <p:nvPr/>
        </p:nvSpPr>
        <p:spPr>
          <a:xfrm>
            <a:off x="411480" y="2386584"/>
            <a:ext cx="347472" cy="347472"/>
          </a:xfrm>
          <a:prstGeom prst="ellipse">
            <a:avLst/>
          </a:prstGeom>
          <a:solidFill>
            <a:srgbClr val="1565C0"/>
          </a:solidFill>
          <a:ln cap="flat" cmpd="sng" w="12700">
            <a:solidFill>
              <a:srgbClr val="1565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7"/>
          <p:cNvSpPr/>
          <p:nvPr/>
        </p:nvSpPr>
        <p:spPr>
          <a:xfrm>
            <a:off x="411480" y="2386584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7"/>
          <p:cNvSpPr/>
          <p:nvPr/>
        </p:nvSpPr>
        <p:spPr>
          <a:xfrm>
            <a:off x="868680" y="2340864"/>
            <a:ext cx="78638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600"/>
              <a:buFont typeface="Courier New"/>
              <a:buNone/>
            </a:pPr>
            <a:r>
              <a:rPr b="0" i="0" lang="en-US" sz="1600" u="none" cap="none" strike="noStrike">
                <a:solidFill>
                  <a:srgbClr val="0D1B2A"/>
                </a:solidFill>
                <a:latin typeface="Courier New"/>
                <a:ea typeface="Courier New"/>
                <a:cs typeface="Courier New"/>
                <a:sym typeface="Courier New"/>
              </a:rPr>
              <a:t>- Bullet lists  and  1. Numbered lists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7"/>
          <p:cNvSpPr/>
          <p:nvPr/>
        </p:nvSpPr>
        <p:spPr>
          <a:xfrm>
            <a:off x="411480" y="3054096"/>
            <a:ext cx="347472" cy="347472"/>
          </a:xfrm>
          <a:prstGeom prst="ellipse">
            <a:avLst/>
          </a:prstGeom>
          <a:solidFill>
            <a:srgbClr val="1565C0"/>
          </a:solidFill>
          <a:ln cap="flat" cmpd="sng" w="12700">
            <a:solidFill>
              <a:srgbClr val="1565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" name="Google Shape;185;p7"/>
          <p:cNvSpPr/>
          <p:nvPr/>
        </p:nvSpPr>
        <p:spPr>
          <a:xfrm>
            <a:off x="411480" y="3054096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7"/>
          <p:cNvSpPr/>
          <p:nvPr/>
        </p:nvSpPr>
        <p:spPr>
          <a:xfrm>
            <a:off x="868680" y="3008376"/>
            <a:ext cx="78638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600"/>
              <a:buFont typeface="Courier New"/>
              <a:buNone/>
            </a:pPr>
            <a:r>
              <a:rPr b="0" i="0" lang="en-US" sz="1600" u="none" cap="none" strike="noStrike">
                <a:solidFill>
                  <a:srgbClr val="0D1B2A"/>
                </a:solidFill>
                <a:latin typeface="Courier New"/>
                <a:ea typeface="Courier New"/>
                <a:cs typeface="Courier New"/>
                <a:sym typeface="Courier New"/>
              </a:rPr>
              <a:t>` Inline code `  and  ``` code blocks ```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7"/>
          <p:cNvSpPr/>
          <p:nvPr/>
        </p:nvSpPr>
        <p:spPr>
          <a:xfrm>
            <a:off x="411480" y="3721608"/>
            <a:ext cx="347472" cy="347472"/>
          </a:xfrm>
          <a:prstGeom prst="ellipse">
            <a:avLst/>
          </a:prstGeom>
          <a:solidFill>
            <a:srgbClr val="1565C0"/>
          </a:solidFill>
          <a:ln cap="flat" cmpd="sng" w="12700">
            <a:solidFill>
              <a:srgbClr val="1565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7"/>
          <p:cNvSpPr/>
          <p:nvPr/>
        </p:nvSpPr>
        <p:spPr>
          <a:xfrm>
            <a:off x="411480" y="3721608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7"/>
          <p:cNvSpPr/>
          <p:nvPr/>
        </p:nvSpPr>
        <p:spPr>
          <a:xfrm>
            <a:off x="868680" y="3675888"/>
            <a:ext cx="78638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600"/>
              <a:buFont typeface="Courier New"/>
              <a:buNone/>
            </a:pPr>
            <a:r>
              <a:rPr b="0" i="0" lang="en-US" sz="1600" u="none" cap="none" strike="noStrike">
                <a:solidFill>
                  <a:srgbClr val="0D1B2A"/>
                </a:solidFill>
                <a:latin typeface="Courier New"/>
                <a:ea typeface="Courier New"/>
                <a:cs typeface="Courier New"/>
                <a:sym typeface="Courier New"/>
              </a:rPr>
              <a:t>Links, images, blockquotes, horizontal rules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7"/>
          <p:cNvSpPr/>
          <p:nvPr/>
        </p:nvSpPr>
        <p:spPr>
          <a:xfrm>
            <a:off x="182880" y="4846320"/>
            <a:ext cx="87782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JS Bros Lab · Lesson 02 · Key Concepts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7FB"/>
        </a:solidFill>
      </p:bgPr>
    </p:bg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8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565C0"/>
          </a:solidFill>
          <a:ln cap="flat" cmpd="sng" w="12700">
            <a:solidFill>
              <a:srgbClr val="1565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7" name="Google Shape;197;p8"/>
          <p:cNvSpPr/>
          <p:nvPr/>
        </p:nvSpPr>
        <p:spPr>
          <a:xfrm>
            <a:off x="502920" y="365760"/>
            <a:ext cx="1005840" cy="438912"/>
          </a:xfrm>
          <a:prstGeom prst="roundRect">
            <a:avLst>
              <a:gd fmla="val 16667" name="adj"/>
            </a:avLst>
          </a:prstGeom>
          <a:solidFill>
            <a:srgbClr val="1565C0"/>
          </a:solidFill>
          <a:ln cap="flat" cmpd="sng" w="12700">
            <a:solidFill>
              <a:srgbClr val="1565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p8"/>
          <p:cNvSpPr/>
          <p:nvPr/>
        </p:nvSpPr>
        <p:spPr>
          <a:xfrm>
            <a:off x="502920" y="365760"/>
            <a:ext cx="100584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8"/>
          <p:cNvSpPr/>
          <p:nvPr/>
        </p:nvSpPr>
        <p:spPr>
          <a:xfrm>
            <a:off x="1691640" y="320040"/>
            <a:ext cx="72237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Try It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8"/>
          <p:cNvSpPr/>
          <p:nvPr/>
        </p:nvSpPr>
        <p:spPr>
          <a:xfrm>
            <a:off x="228600" y="914400"/>
            <a:ext cx="5669280" cy="457200"/>
          </a:xfrm>
          <a:prstGeom prst="rect">
            <a:avLst/>
          </a:prstGeom>
          <a:solidFill>
            <a:srgbClr val="1565C0"/>
          </a:solidFill>
          <a:ln cap="flat" cmpd="sng" w="12700">
            <a:solidFill>
              <a:srgbClr val="1565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1" name="Google Shape;201;p8"/>
          <p:cNvSpPr/>
          <p:nvPr/>
        </p:nvSpPr>
        <p:spPr>
          <a:xfrm>
            <a:off x="320040" y="914400"/>
            <a:ext cx="5486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Write Your Own README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8"/>
          <p:cNvSpPr/>
          <p:nvPr/>
        </p:nvSpPr>
        <p:spPr>
          <a:xfrm>
            <a:off x="228600" y="1371600"/>
            <a:ext cx="5669280" cy="246888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12700">
              <a:srgbClr val="000000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8"/>
          <p:cNvSpPr/>
          <p:nvPr/>
        </p:nvSpPr>
        <p:spPr>
          <a:xfrm>
            <a:off x="347472" y="1508760"/>
            <a:ext cx="274320" cy="274320"/>
          </a:xfrm>
          <a:prstGeom prst="rect">
            <a:avLst/>
          </a:prstGeom>
          <a:solidFill>
            <a:srgbClr val="1565C0"/>
          </a:solidFill>
          <a:ln cap="flat" cmpd="sng" w="12700">
            <a:solidFill>
              <a:srgbClr val="1565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4" name="Google Shape;204;p8"/>
          <p:cNvSpPr/>
          <p:nvPr/>
        </p:nvSpPr>
        <p:spPr>
          <a:xfrm>
            <a:off x="347472" y="1508760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8"/>
          <p:cNvSpPr/>
          <p:nvPr/>
        </p:nvSpPr>
        <p:spPr>
          <a:xfrm>
            <a:off x="713232" y="1463040"/>
            <a:ext cx="50749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Create my-game-plan.md in the repo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8"/>
          <p:cNvSpPr/>
          <p:nvPr/>
        </p:nvSpPr>
        <p:spPr>
          <a:xfrm>
            <a:off x="347472" y="1956816"/>
            <a:ext cx="274320" cy="274320"/>
          </a:xfrm>
          <a:prstGeom prst="rect">
            <a:avLst/>
          </a:prstGeom>
          <a:solidFill>
            <a:srgbClr val="1565C0"/>
          </a:solidFill>
          <a:ln cap="flat" cmpd="sng" w="12700">
            <a:solidFill>
              <a:srgbClr val="1565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7" name="Google Shape;207;p8"/>
          <p:cNvSpPr/>
          <p:nvPr/>
        </p:nvSpPr>
        <p:spPr>
          <a:xfrm>
            <a:off x="347472" y="1956816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8"/>
          <p:cNvSpPr/>
          <p:nvPr/>
        </p:nvSpPr>
        <p:spPr>
          <a:xfrm>
            <a:off x="713232" y="1911096"/>
            <a:ext cx="50749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Add a # title heading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8"/>
          <p:cNvSpPr/>
          <p:nvPr/>
        </p:nvSpPr>
        <p:spPr>
          <a:xfrm>
            <a:off x="347472" y="2404872"/>
            <a:ext cx="274320" cy="274320"/>
          </a:xfrm>
          <a:prstGeom prst="rect">
            <a:avLst/>
          </a:prstGeom>
          <a:solidFill>
            <a:srgbClr val="1565C0"/>
          </a:solidFill>
          <a:ln cap="flat" cmpd="sng" w="12700">
            <a:solidFill>
              <a:srgbClr val="1565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0" name="Google Shape;210;p8"/>
          <p:cNvSpPr/>
          <p:nvPr/>
        </p:nvSpPr>
        <p:spPr>
          <a:xfrm>
            <a:off x="347472" y="2404872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8"/>
          <p:cNvSpPr/>
          <p:nvPr/>
        </p:nvSpPr>
        <p:spPr>
          <a:xfrm>
            <a:off x="713232" y="2359152"/>
            <a:ext cx="50749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Add ## sections for Features and How to Play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8"/>
          <p:cNvSpPr/>
          <p:nvPr/>
        </p:nvSpPr>
        <p:spPr>
          <a:xfrm>
            <a:off x="347472" y="2852928"/>
            <a:ext cx="274320" cy="274320"/>
          </a:xfrm>
          <a:prstGeom prst="rect">
            <a:avLst/>
          </a:prstGeom>
          <a:solidFill>
            <a:srgbClr val="1565C0"/>
          </a:solidFill>
          <a:ln cap="flat" cmpd="sng" w="12700">
            <a:solidFill>
              <a:srgbClr val="1565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3" name="Google Shape;213;p8"/>
          <p:cNvSpPr/>
          <p:nvPr/>
        </p:nvSpPr>
        <p:spPr>
          <a:xfrm>
            <a:off x="347472" y="2852928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8"/>
          <p:cNvSpPr/>
          <p:nvPr/>
        </p:nvSpPr>
        <p:spPr>
          <a:xfrm>
            <a:off x="713232" y="2807208"/>
            <a:ext cx="50749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Use a numbered list, bold words, and a blockquote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8"/>
          <p:cNvSpPr/>
          <p:nvPr/>
        </p:nvSpPr>
        <p:spPr>
          <a:xfrm>
            <a:off x="347472" y="3300984"/>
            <a:ext cx="274320" cy="274320"/>
          </a:xfrm>
          <a:prstGeom prst="rect">
            <a:avLst/>
          </a:prstGeom>
          <a:solidFill>
            <a:srgbClr val="1565C0"/>
          </a:solidFill>
          <a:ln cap="flat" cmpd="sng" w="12700">
            <a:solidFill>
              <a:srgbClr val="1565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8"/>
          <p:cNvSpPr/>
          <p:nvPr/>
        </p:nvSpPr>
        <p:spPr>
          <a:xfrm>
            <a:off x="347472" y="3300984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8"/>
          <p:cNvSpPr/>
          <p:nvPr/>
        </p:nvSpPr>
        <p:spPr>
          <a:xfrm>
            <a:off x="713232" y="3255264"/>
            <a:ext cx="50749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Commit and push — see it render on GitHub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8"/>
          <p:cNvSpPr/>
          <p:nvPr/>
        </p:nvSpPr>
        <p:spPr>
          <a:xfrm>
            <a:off x="228600" y="3931920"/>
            <a:ext cx="5669280" cy="777240"/>
          </a:xfrm>
          <a:prstGeom prst="rect">
            <a:avLst/>
          </a:prstGeom>
          <a:solidFill>
            <a:srgbClr val="1B2A3B"/>
          </a:solidFill>
          <a:ln cap="flat" cmpd="sng" w="12700">
            <a:solidFill>
              <a:srgbClr val="1B2A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9" name="Google Shape;219;p8"/>
          <p:cNvSpPr/>
          <p:nvPr/>
        </p:nvSpPr>
        <p:spPr>
          <a:xfrm>
            <a:off x="411480" y="3931920"/>
            <a:ext cx="54864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CD4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rgbClr val="00BCD4"/>
                </a:solidFill>
                <a:latin typeface="Calibri"/>
                <a:ea typeface="Calibri"/>
                <a:cs typeface="Calibri"/>
                <a:sym typeface="Calibri"/>
              </a:rPr>
              <a:t>"That file is now the front page of your project on the internet."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8"/>
          <p:cNvSpPr/>
          <p:nvPr/>
        </p:nvSpPr>
        <p:spPr>
          <a:xfrm>
            <a:off x="6035040" y="914400"/>
            <a:ext cx="2880360" cy="379476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12700">
              <a:srgbClr val="000000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1" name="Google Shape;221;p8"/>
          <p:cNvSpPr/>
          <p:nvPr/>
        </p:nvSpPr>
        <p:spPr>
          <a:xfrm>
            <a:off x="6035040" y="914400"/>
            <a:ext cx="2880360" cy="457200"/>
          </a:xfrm>
          <a:prstGeom prst="rect">
            <a:avLst/>
          </a:prstGeom>
          <a:solidFill>
            <a:srgbClr val="1B2A3B"/>
          </a:solidFill>
          <a:ln cap="flat" cmpd="sng" w="12700">
            <a:solidFill>
              <a:srgbClr val="1B2A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8"/>
          <p:cNvSpPr/>
          <p:nvPr/>
        </p:nvSpPr>
        <p:spPr>
          <a:xfrm>
            <a:off x="6126480" y="914400"/>
            <a:ext cx="2743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565C0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565C0"/>
                </a:solidFill>
                <a:latin typeface="Calibri"/>
                <a:ea typeface="Calibri"/>
                <a:cs typeface="Calibri"/>
                <a:sym typeface="Calibri"/>
              </a:rPr>
              <a:t>SKILLS UNLOCKED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8"/>
          <p:cNvSpPr/>
          <p:nvPr/>
        </p:nvSpPr>
        <p:spPr>
          <a:xfrm>
            <a:off x="6126480" y="1463040"/>
            <a:ext cx="2697480" cy="3108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Writes formatted Markdown · Created a proper README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8"/>
          <p:cNvSpPr/>
          <p:nvPr/>
        </p:nvSpPr>
        <p:spPr>
          <a:xfrm>
            <a:off x="182880" y="4846320"/>
            <a:ext cx="87782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JS Bros Lab · Lesson 02 · Activity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1B2A"/>
        </a:solidFill>
      </p:bgPr>
    </p:bg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9"/>
          <p:cNvSpPr/>
          <p:nvPr/>
        </p:nvSpPr>
        <p:spPr>
          <a:xfrm>
            <a:off x="0" y="0"/>
            <a:ext cx="457200" cy="5143500"/>
          </a:xfrm>
          <a:prstGeom prst="rect">
            <a:avLst/>
          </a:prstGeom>
          <a:solidFill>
            <a:srgbClr val="06D6A0"/>
          </a:solidFill>
          <a:ln cap="flat" cmpd="sng" w="12700">
            <a:solidFill>
              <a:srgbClr val="06D6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1" name="Google Shape;231;p9"/>
          <p:cNvSpPr/>
          <p:nvPr/>
        </p:nvSpPr>
        <p:spPr>
          <a:xfrm>
            <a:off x="640080" y="457200"/>
            <a:ext cx="320040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D6A0"/>
              </a:buClr>
              <a:buSzPts val="13000"/>
              <a:buFont typeface="Calibri"/>
              <a:buNone/>
            </a:pPr>
            <a:r>
              <a:rPr b="1" i="0" lang="en-US" sz="13000" u="none" cap="none" strike="noStrike">
                <a:solidFill>
                  <a:srgbClr val="06D6A0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 b="0" i="0" sz="1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9"/>
          <p:cNvSpPr/>
          <p:nvPr/>
        </p:nvSpPr>
        <p:spPr>
          <a:xfrm>
            <a:off x="640080" y="502920"/>
            <a:ext cx="2743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D6A0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6D6A0"/>
                </a:solidFill>
                <a:latin typeface="Calibri"/>
                <a:ea typeface="Calibri"/>
                <a:cs typeface="Calibri"/>
                <a:sym typeface="Calibri"/>
              </a:rPr>
              <a:t>LESSON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9"/>
          <p:cNvSpPr/>
          <p:nvPr/>
        </p:nvSpPr>
        <p:spPr>
          <a:xfrm>
            <a:off x="640080" y="2651760"/>
            <a:ext cx="804672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800"/>
              <a:buFont typeface="Calibri"/>
              <a:buNone/>
            </a:pPr>
            <a:r>
              <a:rPr b="1" i="0" lang="en-US" sz="3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Git in Action</a:t>
            </a:r>
            <a:endParaRPr b="0" i="0" sz="3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9"/>
          <p:cNvSpPr/>
          <p:nvPr/>
        </p:nvSpPr>
        <p:spPr>
          <a:xfrm>
            <a:off x="640080" y="3703320"/>
            <a:ext cx="77724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800"/>
              <a:buFont typeface="Calibri"/>
              <a:buNone/>
            </a:pPr>
            <a:r>
              <a:rPr b="0" i="0" lang="en-US" sz="18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Saving and sharing work like a developer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9"/>
          <p:cNvSpPr/>
          <p:nvPr/>
        </p:nvSpPr>
        <p:spPr>
          <a:xfrm>
            <a:off x="7132320" y="274320"/>
            <a:ext cx="1737360" cy="384048"/>
          </a:xfrm>
          <a:prstGeom prst="roundRect">
            <a:avLst>
              <a:gd fmla="val 14286" name="adj"/>
            </a:avLst>
          </a:prstGeom>
          <a:solidFill>
            <a:srgbClr val="06D6A0"/>
          </a:solidFill>
          <a:ln cap="flat" cmpd="sng" w="12700">
            <a:solidFill>
              <a:srgbClr val="06D6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6" name="Google Shape;236;p9"/>
          <p:cNvSpPr/>
          <p:nvPr/>
        </p:nvSpPr>
        <p:spPr>
          <a:xfrm>
            <a:off x="7132320" y="274320"/>
            <a:ext cx="17373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⏱ 60 min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9"/>
          <p:cNvSpPr/>
          <p:nvPr/>
        </p:nvSpPr>
        <p:spPr>
          <a:xfrm>
            <a:off x="182880" y="4846320"/>
            <a:ext cx="87782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JS Bros Lab · Lesson 03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7FB"/>
        </a:solidFill>
      </p:bgPr>
    </p:bg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1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6D6A0"/>
          </a:solidFill>
          <a:ln cap="flat" cmpd="sng" w="12700">
            <a:solidFill>
              <a:srgbClr val="06D6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4" name="Google Shape;244;p10"/>
          <p:cNvSpPr/>
          <p:nvPr/>
        </p:nvSpPr>
        <p:spPr>
          <a:xfrm>
            <a:off x="502920" y="365760"/>
            <a:ext cx="1005840" cy="438912"/>
          </a:xfrm>
          <a:prstGeom prst="roundRect">
            <a:avLst>
              <a:gd fmla="val 16667" name="adj"/>
            </a:avLst>
          </a:prstGeom>
          <a:solidFill>
            <a:srgbClr val="06D6A0"/>
          </a:solidFill>
          <a:ln cap="flat" cmpd="sng" w="12700">
            <a:solidFill>
              <a:srgbClr val="06D6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10"/>
          <p:cNvSpPr/>
          <p:nvPr/>
        </p:nvSpPr>
        <p:spPr>
          <a:xfrm>
            <a:off x="502920" y="365760"/>
            <a:ext cx="100584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10"/>
          <p:cNvSpPr/>
          <p:nvPr/>
        </p:nvSpPr>
        <p:spPr>
          <a:xfrm>
            <a:off x="1691640" y="320040"/>
            <a:ext cx="72237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Key Concepts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10"/>
          <p:cNvSpPr/>
          <p:nvPr/>
        </p:nvSpPr>
        <p:spPr>
          <a:xfrm>
            <a:off x="228600" y="914400"/>
            <a:ext cx="8686800" cy="384048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8100000" dist="25400">
              <a:srgbClr val="000000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8" name="Google Shape;248;p10"/>
          <p:cNvSpPr/>
          <p:nvPr/>
        </p:nvSpPr>
        <p:spPr>
          <a:xfrm>
            <a:off x="411480" y="1051560"/>
            <a:ext cx="347472" cy="347472"/>
          </a:xfrm>
          <a:prstGeom prst="ellipse">
            <a:avLst/>
          </a:prstGeom>
          <a:solidFill>
            <a:srgbClr val="06D6A0"/>
          </a:solidFill>
          <a:ln cap="flat" cmpd="sng" w="12700">
            <a:solidFill>
              <a:srgbClr val="06D6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9" name="Google Shape;249;p10"/>
          <p:cNvSpPr/>
          <p:nvPr/>
        </p:nvSpPr>
        <p:spPr>
          <a:xfrm>
            <a:off x="411480" y="105156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10"/>
          <p:cNvSpPr/>
          <p:nvPr/>
        </p:nvSpPr>
        <p:spPr>
          <a:xfrm>
            <a:off x="868680" y="1005840"/>
            <a:ext cx="78638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600"/>
              <a:buFont typeface="Courier New"/>
              <a:buNone/>
            </a:pPr>
            <a:r>
              <a:rPr b="0" i="0" lang="en-US" sz="1600" u="none" cap="none" strike="noStrike">
                <a:solidFill>
                  <a:srgbClr val="0D1B2A"/>
                </a:solidFill>
                <a:latin typeface="Courier New"/>
                <a:ea typeface="Courier New"/>
                <a:cs typeface="Courier New"/>
                <a:sym typeface="Courier New"/>
              </a:rPr>
              <a:t>git status  — what changed?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10"/>
          <p:cNvSpPr/>
          <p:nvPr/>
        </p:nvSpPr>
        <p:spPr>
          <a:xfrm>
            <a:off x="411480" y="1719072"/>
            <a:ext cx="347472" cy="347472"/>
          </a:xfrm>
          <a:prstGeom prst="ellipse">
            <a:avLst/>
          </a:prstGeom>
          <a:solidFill>
            <a:srgbClr val="06D6A0"/>
          </a:solidFill>
          <a:ln cap="flat" cmpd="sng" w="12700">
            <a:solidFill>
              <a:srgbClr val="06D6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10"/>
          <p:cNvSpPr/>
          <p:nvPr/>
        </p:nvSpPr>
        <p:spPr>
          <a:xfrm>
            <a:off x="411480" y="1719072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10"/>
          <p:cNvSpPr/>
          <p:nvPr/>
        </p:nvSpPr>
        <p:spPr>
          <a:xfrm>
            <a:off x="868680" y="1673352"/>
            <a:ext cx="78638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600"/>
              <a:buFont typeface="Courier New"/>
              <a:buNone/>
            </a:pPr>
            <a:r>
              <a:rPr b="0" i="0" lang="en-US" sz="1600" u="none" cap="none" strike="noStrike">
                <a:solidFill>
                  <a:srgbClr val="0D1B2A"/>
                </a:solidFill>
                <a:latin typeface="Courier New"/>
                <a:ea typeface="Courier New"/>
                <a:cs typeface="Courier New"/>
                <a:sym typeface="Courier New"/>
              </a:rPr>
              <a:t>git add .  — stage everything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10"/>
          <p:cNvSpPr/>
          <p:nvPr/>
        </p:nvSpPr>
        <p:spPr>
          <a:xfrm>
            <a:off x="411480" y="2386584"/>
            <a:ext cx="347472" cy="347472"/>
          </a:xfrm>
          <a:prstGeom prst="ellipse">
            <a:avLst/>
          </a:prstGeom>
          <a:solidFill>
            <a:srgbClr val="06D6A0"/>
          </a:solidFill>
          <a:ln cap="flat" cmpd="sng" w="12700">
            <a:solidFill>
              <a:srgbClr val="06D6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5" name="Google Shape;255;p10"/>
          <p:cNvSpPr/>
          <p:nvPr/>
        </p:nvSpPr>
        <p:spPr>
          <a:xfrm>
            <a:off x="411480" y="2386584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10"/>
          <p:cNvSpPr/>
          <p:nvPr/>
        </p:nvSpPr>
        <p:spPr>
          <a:xfrm>
            <a:off x="868680" y="2340864"/>
            <a:ext cx="78638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600"/>
              <a:buFont typeface="Courier New"/>
              <a:buNone/>
            </a:pPr>
            <a:r>
              <a:rPr b="0" i="0" lang="en-US" sz="1600" u="none" cap="none" strike="noStrike">
                <a:solidFill>
                  <a:srgbClr val="0D1B2A"/>
                </a:solidFill>
                <a:latin typeface="Courier New"/>
                <a:ea typeface="Courier New"/>
                <a:cs typeface="Courier New"/>
                <a:sym typeface="Courier New"/>
              </a:rPr>
              <a:t>git commit -m ""  — save with a message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10"/>
          <p:cNvSpPr/>
          <p:nvPr/>
        </p:nvSpPr>
        <p:spPr>
          <a:xfrm>
            <a:off x="411480" y="3054096"/>
            <a:ext cx="347472" cy="347472"/>
          </a:xfrm>
          <a:prstGeom prst="ellipse">
            <a:avLst/>
          </a:prstGeom>
          <a:solidFill>
            <a:srgbClr val="06D6A0"/>
          </a:solidFill>
          <a:ln cap="flat" cmpd="sng" w="12700">
            <a:solidFill>
              <a:srgbClr val="06D6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10"/>
          <p:cNvSpPr/>
          <p:nvPr/>
        </p:nvSpPr>
        <p:spPr>
          <a:xfrm>
            <a:off x="411480" y="3054096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10"/>
          <p:cNvSpPr/>
          <p:nvPr/>
        </p:nvSpPr>
        <p:spPr>
          <a:xfrm>
            <a:off x="868680" y="3008376"/>
            <a:ext cx="78638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600"/>
              <a:buFont typeface="Courier New"/>
              <a:buNone/>
            </a:pPr>
            <a:r>
              <a:rPr b="0" i="0" lang="en-US" sz="1600" u="none" cap="none" strike="noStrike">
                <a:solidFill>
                  <a:srgbClr val="0D1B2A"/>
                </a:solidFill>
                <a:latin typeface="Courier New"/>
                <a:ea typeface="Courier New"/>
                <a:cs typeface="Courier New"/>
                <a:sym typeface="Courier New"/>
              </a:rPr>
              <a:t>git push  — send to GitHub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10"/>
          <p:cNvSpPr/>
          <p:nvPr/>
        </p:nvSpPr>
        <p:spPr>
          <a:xfrm>
            <a:off x="411480" y="3721608"/>
            <a:ext cx="347472" cy="347472"/>
          </a:xfrm>
          <a:prstGeom prst="ellipse">
            <a:avLst/>
          </a:prstGeom>
          <a:solidFill>
            <a:srgbClr val="06D6A0"/>
          </a:solidFill>
          <a:ln cap="flat" cmpd="sng" w="12700">
            <a:solidFill>
              <a:srgbClr val="06D6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1" name="Google Shape;261;p10"/>
          <p:cNvSpPr/>
          <p:nvPr/>
        </p:nvSpPr>
        <p:spPr>
          <a:xfrm>
            <a:off x="411480" y="3721608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10"/>
          <p:cNvSpPr/>
          <p:nvPr/>
        </p:nvSpPr>
        <p:spPr>
          <a:xfrm>
            <a:off x="868680" y="3675888"/>
            <a:ext cx="78638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600"/>
              <a:buFont typeface="Courier New"/>
              <a:buNone/>
            </a:pPr>
            <a:r>
              <a:rPr b="0" i="0" lang="en-US" sz="1600" u="none" cap="none" strike="noStrike">
                <a:solidFill>
                  <a:srgbClr val="0D1B2A"/>
                </a:solidFill>
                <a:latin typeface="Courier New"/>
                <a:ea typeface="Courier New"/>
                <a:cs typeface="Courier New"/>
                <a:sym typeface="Courier New"/>
              </a:rPr>
              <a:t>Branches — your own sandbox to experiment in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10"/>
          <p:cNvSpPr/>
          <p:nvPr/>
        </p:nvSpPr>
        <p:spPr>
          <a:xfrm>
            <a:off x="182880" y="4846320"/>
            <a:ext cx="87782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JS Bros Lab · Lesson 03 · Key Concepts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7FB"/>
        </a:solidFill>
      </p:bgPr>
    </p:bg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1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6D6A0"/>
          </a:solidFill>
          <a:ln cap="flat" cmpd="sng" w="12700">
            <a:solidFill>
              <a:srgbClr val="06D6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0" name="Google Shape;270;p11"/>
          <p:cNvSpPr/>
          <p:nvPr/>
        </p:nvSpPr>
        <p:spPr>
          <a:xfrm>
            <a:off x="502920" y="365760"/>
            <a:ext cx="1005840" cy="438912"/>
          </a:xfrm>
          <a:prstGeom prst="roundRect">
            <a:avLst>
              <a:gd fmla="val 16667" name="adj"/>
            </a:avLst>
          </a:prstGeom>
          <a:solidFill>
            <a:srgbClr val="06D6A0"/>
          </a:solidFill>
          <a:ln cap="flat" cmpd="sng" w="12700">
            <a:solidFill>
              <a:srgbClr val="06D6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1" name="Google Shape;271;p11"/>
          <p:cNvSpPr/>
          <p:nvPr/>
        </p:nvSpPr>
        <p:spPr>
          <a:xfrm>
            <a:off x="502920" y="365760"/>
            <a:ext cx="100584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11"/>
          <p:cNvSpPr/>
          <p:nvPr/>
        </p:nvSpPr>
        <p:spPr>
          <a:xfrm>
            <a:off x="1691640" y="320040"/>
            <a:ext cx="72237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Try It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11"/>
          <p:cNvSpPr/>
          <p:nvPr/>
        </p:nvSpPr>
        <p:spPr>
          <a:xfrm>
            <a:off x="228600" y="914400"/>
            <a:ext cx="5669280" cy="457200"/>
          </a:xfrm>
          <a:prstGeom prst="rect">
            <a:avLst/>
          </a:prstGeom>
          <a:solidFill>
            <a:srgbClr val="06D6A0"/>
          </a:solidFill>
          <a:ln cap="flat" cmpd="sng" w="12700">
            <a:solidFill>
              <a:srgbClr val="06D6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4" name="Google Shape;274;p11"/>
          <p:cNvSpPr/>
          <p:nvPr/>
        </p:nvSpPr>
        <p:spPr>
          <a:xfrm>
            <a:off x="320040" y="914400"/>
            <a:ext cx="5486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4-Command Challenge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11"/>
          <p:cNvSpPr/>
          <p:nvPr/>
        </p:nvSpPr>
        <p:spPr>
          <a:xfrm>
            <a:off x="228600" y="1371600"/>
            <a:ext cx="5669280" cy="246888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12700">
              <a:srgbClr val="000000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6" name="Google Shape;276;p11"/>
          <p:cNvSpPr/>
          <p:nvPr/>
        </p:nvSpPr>
        <p:spPr>
          <a:xfrm>
            <a:off x="347472" y="1508760"/>
            <a:ext cx="274320" cy="274320"/>
          </a:xfrm>
          <a:prstGeom prst="rect">
            <a:avLst/>
          </a:prstGeom>
          <a:solidFill>
            <a:srgbClr val="06D6A0"/>
          </a:solidFill>
          <a:ln cap="flat" cmpd="sng" w="12700">
            <a:solidFill>
              <a:srgbClr val="06D6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11"/>
          <p:cNvSpPr/>
          <p:nvPr/>
        </p:nvSpPr>
        <p:spPr>
          <a:xfrm>
            <a:off x="347472" y="1508760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11"/>
          <p:cNvSpPr/>
          <p:nvPr/>
        </p:nvSpPr>
        <p:spPr>
          <a:xfrm>
            <a:off x="713232" y="1463040"/>
            <a:ext cx="50749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Create about-me.md with name, age, favourite game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11"/>
          <p:cNvSpPr/>
          <p:nvPr/>
        </p:nvSpPr>
        <p:spPr>
          <a:xfrm>
            <a:off x="347472" y="1956816"/>
            <a:ext cx="274320" cy="274320"/>
          </a:xfrm>
          <a:prstGeom prst="rect">
            <a:avLst/>
          </a:prstGeom>
          <a:solidFill>
            <a:srgbClr val="06D6A0"/>
          </a:solidFill>
          <a:ln cap="flat" cmpd="sng" w="12700">
            <a:solidFill>
              <a:srgbClr val="06D6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" name="Google Shape;280;p11"/>
          <p:cNvSpPr/>
          <p:nvPr/>
        </p:nvSpPr>
        <p:spPr>
          <a:xfrm>
            <a:off x="347472" y="1956816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11"/>
          <p:cNvSpPr/>
          <p:nvPr/>
        </p:nvSpPr>
        <p:spPr>
          <a:xfrm>
            <a:off x="713232" y="1911096"/>
            <a:ext cx="50749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Run all 4 commands in order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11"/>
          <p:cNvSpPr/>
          <p:nvPr/>
        </p:nvSpPr>
        <p:spPr>
          <a:xfrm>
            <a:off x="347472" y="2404872"/>
            <a:ext cx="274320" cy="274320"/>
          </a:xfrm>
          <a:prstGeom prst="rect">
            <a:avLst/>
          </a:prstGeom>
          <a:solidFill>
            <a:srgbClr val="06D6A0"/>
          </a:solidFill>
          <a:ln cap="flat" cmpd="sng" w="12700">
            <a:solidFill>
              <a:srgbClr val="06D6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11"/>
          <p:cNvSpPr/>
          <p:nvPr/>
        </p:nvSpPr>
        <p:spPr>
          <a:xfrm>
            <a:off x="347472" y="2404872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11"/>
          <p:cNvSpPr/>
          <p:nvPr/>
        </p:nvSpPr>
        <p:spPr>
          <a:xfrm>
            <a:off x="713232" y="2359152"/>
            <a:ext cx="50749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Open GitHub — verify your file is live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11"/>
          <p:cNvSpPr/>
          <p:nvPr/>
        </p:nvSpPr>
        <p:spPr>
          <a:xfrm>
            <a:off x="347472" y="2852928"/>
            <a:ext cx="274320" cy="274320"/>
          </a:xfrm>
          <a:prstGeom prst="rect">
            <a:avLst/>
          </a:prstGeom>
          <a:solidFill>
            <a:srgbClr val="06D6A0"/>
          </a:solidFill>
          <a:ln cap="flat" cmpd="sng" w="12700">
            <a:solidFill>
              <a:srgbClr val="06D6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6" name="Google Shape;286;p11"/>
          <p:cNvSpPr/>
          <p:nvPr/>
        </p:nvSpPr>
        <p:spPr>
          <a:xfrm>
            <a:off x="347472" y="2852928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11"/>
          <p:cNvSpPr/>
          <p:nvPr/>
        </p:nvSpPr>
        <p:spPr>
          <a:xfrm>
            <a:off x="713232" y="2807208"/>
            <a:ext cx="50749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Create a branch: git checkout -b yourname-ideas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11"/>
          <p:cNvSpPr/>
          <p:nvPr/>
        </p:nvSpPr>
        <p:spPr>
          <a:xfrm>
            <a:off x="347472" y="3300984"/>
            <a:ext cx="274320" cy="274320"/>
          </a:xfrm>
          <a:prstGeom prst="rect">
            <a:avLst/>
          </a:prstGeom>
          <a:solidFill>
            <a:srgbClr val="06D6A0"/>
          </a:solidFill>
          <a:ln cap="flat" cmpd="sng" w="12700">
            <a:solidFill>
              <a:srgbClr val="06D6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11"/>
          <p:cNvSpPr/>
          <p:nvPr/>
        </p:nvSpPr>
        <p:spPr>
          <a:xfrm>
            <a:off x="347472" y="3300984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11"/>
          <p:cNvSpPr/>
          <p:nvPr/>
        </p:nvSpPr>
        <p:spPr>
          <a:xfrm>
            <a:off x="713232" y="3255264"/>
            <a:ext cx="50749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Make a change and push the branch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11"/>
          <p:cNvSpPr/>
          <p:nvPr/>
        </p:nvSpPr>
        <p:spPr>
          <a:xfrm>
            <a:off x="228600" y="3931920"/>
            <a:ext cx="5669280" cy="777240"/>
          </a:xfrm>
          <a:prstGeom prst="rect">
            <a:avLst/>
          </a:prstGeom>
          <a:solidFill>
            <a:srgbClr val="1B2A3B"/>
          </a:solidFill>
          <a:ln cap="flat" cmpd="sng" w="12700">
            <a:solidFill>
              <a:srgbClr val="1B2A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2" name="Google Shape;292;p11"/>
          <p:cNvSpPr/>
          <p:nvPr/>
        </p:nvSpPr>
        <p:spPr>
          <a:xfrm>
            <a:off x="411480" y="3931920"/>
            <a:ext cx="54864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CD4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rgbClr val="00BCD4"/>
                </a:solidFill>
                <a:latin typeface="Calibri"/>
                <a:ea typeface="Calibri"/>
                <a:cs typeface="Calibri"/>
                <a:sym typeface="Calibri"/>
              </a:rPr>
              <a:t>"Status. Add. Commit. Push. In that order. Every time."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11"/>
          <p:cNvSpPr/>
          <p:nvPr/>
        </p:nvSpPr>
        <p:spPr>
          <a:xfrm>
            <a:off x="6035040" y="914400"/>
            <a:ext cx="2880360" cy="379476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12700">
              <a:srgbClr val="000000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4" name="Google Shape;294;p11"/>
          <p:cNvSpPr/>
          <p:nvPr/>
        </p:nvSpPr>
        <p:spPr>
          <a:xfrm>
            <a:off x="6035040" y="914400"/>
            <a:ext cx="2880360" cy="457200"/>
          </a:xfrm>
          <a:prstGeom prst="rect">
            <a:avLst/>
          </a:prstGeom>
          <a:solidFill>
            <a:srgbClr val="1B2A3B"/>
          </a:solidFill>
          <a:ln cap="flat" cmpd="sng" w="12700">
            <a:solidFill>
              <a:srgbClr val="1B2A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11"/>
          <p:cNvSpPr/>
          <p:nvPr/>
        </p:nvSpPr>
        <p:spPr>
          <a:xfrm>
            <a:off x="6126480" y="914400"/>
            <a:ext cx="2743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D6A0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6D6A0"/>
                </a:solidFill>
                <a:latin typeface="Calibri"/>
                <a:ea typeface="Calibri"/>
                <a:cs typeface="Calibri"/>
                <a:sym typeface="Calibri"/>
              </a:rPr>
              <a:t>SKILLS UNLOCKED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11"/>
          <p:cNvSpPr/>
          <p:nvPr/>
        </p:nvSpPr>
        <p:spPr>
          <a:xfrm>
            <a:off x="6126480" y="1463040"/>
            <a:ext cx="2697480" cy="3108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Runs 4 git commands · Made first push · Understands branches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11"/>
          <p:cNvSpPr/>
          <p:nvPr/>
        </p:nvSpPr>
        <p:spPr>
          <a:xfrm>
            <a:off x="182880" y="4846320"/>
            <a:ext cx="87782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JS Bros Lab · Lesson 03 · Activity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1B2A"/>
        </a:solidFill>
      </p:bgPr>
    </p:bg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12"/>
          <p:cNvSpPr/>
          <p:nvPr/>
        </p:nvSpPr>
        <p:spPr>
          <a:xfrm>
            <a:off x="0" y="0"/>
            <a:ext cx="457200" cy="5143500"/>
          </a:xfrm>
          <a:prstGeom prst="rect">
            <a:avLst/>
          </a:prstGeom>
          <a:solidFill>
            <a:srgbClr val="FFD166"/>
          </a:solidFill>
          <a:ln cap="flat" cmpd="sng" w="12700">
            <a:solidFill>
              <a:srgbClr val="FFD1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4" name="Google Shape;304;p12"/>
          <p:cNvSpPr/>
          <p:nvPr/>
        </p:nvSpPr>
        <p:spPr>
          <a:xfrm>
            <a:off x="640080" y="457200"/>
            <a:ext cx="320040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166"/>
              </a:buClr>
              <a:buSzPts val="13000"/>
              <a:buFont typeface="Calibri"/>
              <a:buNone/>
            </a:pPr>
            <a:r>
              <a:rPr b="1" i="0" lang="en-US" sz="13000" u="none" cap="none" strike="noStrike">
                <a:solidFill>
                  <a:srgbClr val="FFD166"/>
                </a:solidFill>
                <a:latin typeface="Calibri"/>
                <a:ea typeface="Calibri"/>
                <a:cs typeface="Calibri"/>
                <a:sym typeface="Calibri"/>
              </a:rPr>
              <a:t>04</a:t>
            </a:r>
            <a:endParaRPr b="0" i="0" sz="1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12"/>
          <p:cNvSpPr/>
          <p:nvPr/>
        </p:nvSpPr>
        <p:spPr>
          <a:xfrm>
            <a:off x="640080" y="502920"/>
            <a:ext cx="2743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166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D166"/>
                </a:solidFill>
                <a:latin typeface="Calibri"/>
                <a:ea typeface="Calibri"/>
                <a:cs typeface="Calibri"/>
                <a:sym typeface="Calibri"/>
              </a:rPr>
              <a:t>LESSON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12"/>
          <p:cNvSpPr/>
          <p:nvPr/>
        </p:nvSpPr>
        <p:spPr>
          <a:xfrm>
            <a:off x="640080" y="2651760"/>
            <a:ext cx="804672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800"/>
              <a:buFont typeface="Calibri"/>
              <a:buNone/>
            </a:pPr>
            <a:r>
              <a:rPr b="1" i="0" lang="en-US" sz="3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Roblox Studio Basics</a:t>
            </a:r>
            <a:endParaRPr b="0" i="0" sz="3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12"/>
          <p:cNvSpPr/>
          <p:nvPr/>
        </p:nvSpPr>
        <p:spPr>
          <a:xfrm>
            <a:off x="640080" y="3703320"/>
            <a:ext cx="77724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800"/>
              <a:buFont typeface="Calibri"/>
              <a:buNone/>
            </a:pPr>
            <a:r>
              <a:rPr b="0" i="0" lang="en-US" sz="18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Navigating the tool used to build every Roblox game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12"/>
          <p:cNvSpPr/>
          <p:nvPr/>
        </p:nvSpPr>
        <p:spPr>
          <a:xfrm>
            <a:off x="7132320" y="274320"/>
            <a:ext cx="1737360" cy="384048"/>
          </a:xfrm>
          <a:prstGeom prst="roundRect">
            <a:avLst>
              <a:gd fmla="val 14286" name="adj"/>
            </a:avLst>
          </a:prstGeom>
          <a:solidFill>
            <a:srgbClr val="FFD166"/>
          </a:solidFill>
          <a:ln cap="flat" cmpd="sng" w="12700">
            <a:solidFill>
              <a:srgbClr val="FFD1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9" name="Google Shape;309;p12"/>
          <p:cNvSpPr/>
          <p:nvPr/>
        </p:nvSpPr>
        <p:spPr>
          <a:xfrm>
            <a:off x="7132320" y="274320"/>
            <a:ext cx="17373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⏱ 60 min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12"/>
          <p:cNvSpPr/>
          <p:nvPr/>
        </p:nvSpPr>
        <p:spPr>
          <a:xfrm>
            <a:off x="182880" y="4846320"/>
            <a:ext cx="87782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JS Bros Lab · Lesson 04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7FB"/>
        </a:solidFill>
      </p:bgPr>
    </p:bg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13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FD166"/>
          </a:solidFill>
          <a:ln cap="flat" cmpd="sng" w="12700">
            <a:solidFill>
              <a:srgbClr val="FFD1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7" name="Google Shape;317;p13"/>
          <p:cNvSpPr/>
          <p:nvPr/>
        </p:nvSpPr>
        <p:spPr>
          <a:xfrm>
            <a:off x="502920" y="365760"/>
            <a:ext cx="1005840" cy="438912"/>
          </a:xfrm>
          <a:prstGeom prst="roundRect">
            <a:avLst>
              <a:gd fmla="val 16667" name="adj"/>
            </a:avLst>
          </a:prstGeom>
          <a:solidFill>
            <a:srgbClr val="FFD166"/>
          </a:solidFill>
          <a:ln cap="flat" cmpd="sng" w="12700">
            <a:solidFill>
              <a:srgbClr val="FFD1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13"/>
          <p:cNvSpPr/>
          <p:nvPr/>
        </p:nvSpPr>
        <p:spPr>
          <a:xfrm>
            <a:off x="502920" y="365760"/>
            <a:ext cx="100584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04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13"/>
          <p:cNvSpPr/>
          <p:nvPr/>
        </p:nvSpPr>
        <p:spPr>
          <a:xfrm>
            <a:off x="1691640" y="320040"/>
            <a:ext cx="72237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Key Concepts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13"/>
          <p:cNvSpPr/>
          <p:nvPr/>
        </p:nvSpPr>
        <p:spPr>
          <a:xfrm>
            <a:off x="228600" y="914400"/>
            <a:ext cx="8686800" cy="384048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8100000" dist="25400">
              <a:srgbClr val="000000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1" name="Google Shape;321;p13"/>
          <p:cNvSpPr/>
          <p:nvPr/>
        </p:nvSpPr>
        <p:spPr>
          <a:xfrm>
            <a:off x="411480" y="1051560"/>
            <a:ext cx="347472" cy="347472"/>
          </a:xfrm>
          <a:prstGeom prst="ellipse">
            <a:avLst/>
          </a:prstGeom>
          <a:solidFill>
            <a:srgbClr val="FFD166"/>
          </a:solidFill>
          <a:ln cap="flat" cmpd="sng" w="12700">
            <a:solidFill>
              <a:srgbClr val="FFD1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2" name="Google Shape;322;p13"/>
          <p:cNvSpPr/>
          <p:nvPr/>
        </p:nvSpPr>
        <p:spPr>
          <a:xfrm>
            <a:off x="411480" y="105156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13"/>
          <p:cNvSpPr/>
          <p:nvPr/>
        </p:nvSpPr>
        <p:spPr>
          <a:xfrm>
            <a:off x="868680" y="1005840"/>
            <a:ext cx="78638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600"/>
              <a:buFont typeface="Courier New"/>
              <a:buNone/>
            </a:pPr>
            <a:r>
              <a:rPr b="0" i="0" lang="en-US" sz="1600" u="none" cap="none" strike="noStrike">
                <a:solidFill>
                  <a:srgbClr val="0D1B2A"/>
                </a:solidFill>
                <a:latin typeface="Courier New"/>
                <a:ea typeface="Courier New"/>
                <a:cs typeface="Courier New"/>
                <a:sym typeface="Courier New"/>
              </a:rPr>
              <a:t>Viewport — the 3D world players see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13"/>
          <p:cNvSpPr/>
          <p:nvPr/>
        </p:nvSpPr>
        <p:spPr>
          <a:xfrm>
            <a:off x="411480" y="1719072"/>
            <a:ext cx="347472" cy="347472"/>
          </a:xfrm>
          <a:prstGeom prst="ellipse">
            <a:avLst/>
          </a:prstGeom>
          <a:solidFill>
            <a:srgbClr val="FFD166"/>
          </a:solidFill>
          <a:ln cap="flat" cmpd="sng" w="12700">
            <a:solidFill>
              <a:srgbClr val="FFD1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5" name="Google Shape;325;p13"/>
          <p:cNvSpPr/>
          <p:nvPr/>
        </p:nvSpPr>
        <p:spPr>
          <a:xfrm>
            <a:off x="411480" y="1719072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13"/>
          <p:cNvSpPr/>
          <p:nvPr/>
        </p:nvSpPr>
        <p:spPr>
          <a:xfrm>
            <a:off x="868680" y="1673352"/>
            <a:ext cx="78638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600"/>
              <a:buFont typeface="Courier New"/>
              <a:buNone/>
            </a:pPr>
            <a:r>
              <a:rPr b="0" i="0" lang="en-US" sz="1600" u="none" cap="none" strike="noStrike">
                <a:solidFill>
                  <a:srgbClr val="0D1B2A"/>
                </a:solidFill>
                <a:latin typeface="Courier New"/>
                <a:ea typeface="Courier New"/>
                <a:cs typeface="Courier New"/>
                <a:sym typeface="Courier New"/>
              </a:rPr>
              <a:t>Explorer — the family tree of everything in the game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p13"/>
          <p:cNvSpPr/>
          <p:nvPr/>
        </p:nvSpPr>
        <p:spPr>
          <a:xfrm>
            <a:off x="411480" y="2386584"/>
            <a:ext cx="347472" cy="347472"/>
          </a:xfrm>
          <a:prstGeom prst="ellipse">
            <a:avLst/>
          </a:prstGeom>
          <a:solidFill>
            <a:srgbClr val="FFD166"/>
          </a:solidFill>
          <a:ln cap="flat" cmpd="sng" w="12700">
            <a:solidFill>
              <a:srgbClr val="FFD1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8" name="Google Shape;328;p13"/>
          <p:cNvSpPr/>
          <p:nvPr/>
        </p:nvSpPr>
        <p:spPr>
          <a:xfrm>
            <a:off x="411480" y="2386584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13"/>
          <p:cNvSpPr/>
          <p:nvPr/>
        </p:nvSpPr>
        <p:spPr>
          <a:xfrm>
            <a:off x="868680" y="2340864"/>
            <a:ext cx="78638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600"/>
              <a:buFont typeface="Courier New"/>
              <a:buNone/>
            </a:pPr>
            <a:r>
              <a:rPr b="0" i="0" lang="en-US" sz="1600" u="none" cap="none" strike="noStrike">
                <a:solidFill>
                  <a:srgbClr val="0D1B2A"/>
                </a:solidFill>
                <a:latin typeface="Courier New"/>
                <a:ea typeface="Courier New"/>
                <a:cs typeface="Courier New"/>
                <a:sym typeface="Courier New"/>
              </a:rPr>
              <a:t>Properties — settings for whatever you clicked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13"/>
          <p:cNvSpPr/>
          <p:nvPr/>
        </p:nvSpPr>
        <p:spPr>
          <a:xfrm>
            <a:off x="411480" y="3054096"/>
            <a:ext cx="347472" cy="347472"/>
          </a:xfrm>
          <a:prstGeom prst="ellipse">
            <a:avLst/>
          </a:prstGeom>
          <a:solidFill>
            <a:srgbClr val="FFD166"/>
          </a:solidFill>
          <a:ln cap="flat" cmpd="sng" w="12700">
            <a:solidFill>
              <a:srgbClr val="FFD1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1" name="Google Shape;331;p13"/>
          <p:cNvSpPr/>
          <p:nvPr/>
        </p:nvSpPr>
        <p:spPr>
          <a:xfrm>
            <a:off x="411480" y="3054096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13"/>
          <p:cNvSpPr/>
          <p:nvPr/>
        </p:nvSpPr>
        <p:spPr>
          <a:xfrm>
            <a:off x="868680" y="3008376"/>
            <a:ext cx="78638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600"/>
              <a:buFont typeface="Courier New"/>
              <a:buNone/>
            </a:pPr>
            <a:r>
              <a:rPr b="0" i="0" lang="en-US" sz="1600" u="none" cap="none" strike="noStrike">
                <a:solidFill>
                  <a:srgbClr val="0D1B2A"/>
                </a:solidFill>
                <a:latin typeface="Courier New"/>
                <a:ea typeface="Courier New"/>
                <a:cs typeface="Courier New"/>
                <a:sym typeface="Courier New"/>
              </a:rPr>
              <a:t>Anchored = frozen · Un-anchored = physics applies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13"/>
          <p:cNvSpPr/>
          <p:nvPr/>
        </p:nvSpPr>
        <p:spPr>
          <a:xfrm>
            <a:off x="411480" y="3721608"/>
            <a:ext cx="347472" cy="347472"/>
          </a:xfrm>
          <a:prstGeom prst="ellipse">
            <a:avLst/>
          </a:prstGeom>
          <a:solidFill>
            <a:srgbClr val="FFD166"/>
          </a:solidFill>
          <a:ln cap="flat" cmpd="sng" w="12700">
            <a:solidFill>
              <a:srgbClr val="FFD1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4" name="Google Shape;334;p13"/>
          <p:cNvSpPr/>
          <p:nvPr/>
        </p:nvSpPr>
        <p:spPr>
          <a:xfrm>
            <a:off x="411480" y="3721608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p13"/>
          <p:cNvSpPr/>
          <p:nvPr/>
        </p:nvSpPr>
        <p:spPr>
          <a:xfrm>
            <a:off x="868680" y="3675888"/>
            <a:ext cx="78638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600"/>
              <a:buFont typeface="Courier New"/>
              <a:buNone/>
            </a:pPr>
            <a:r>
              <a:rPr b="0" i="0" lang="en-US" sz="1600" u="none" cap="none" strike="noStrike">
                <a:solidFill>
                  <a:srgbClr val="0D1B2A"/>
                </a:solidFill>
                <a:latin typeface="Courier New"/>
                <a:ea typeface="Courier New"/>
                <a:cs typeface="Courier New"/>
                <a:sym typeface="Courier New"/>
              </a:rPr>
              <a:t>Playtest with F5 to walk around your creation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13"/>
          <p:cNvSpPr/>
          <p:nvPr/>
        </p:nvSpPr>
        <p:spPr>
          <a:xfrm>
            <a:off x="182880" y="4846320"/>
            <a:ext cx="87782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JS Bros Lab · Lesson 04 · Key Concepts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7FB"/>
        </a:solid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14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FD166"/>
          </a:solidFill>
          <a:ln cap="flat" cmpd="sng" w="12700">
            <a:solidFill>
              <a:srgbClr val="FFD1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3" name="Google Shape;343;p14"/>
          <p:cNvSpPr/>
          <p:nvPr/>
        </p:nvSpPr>
        <p:spPr>
          <a:xfrm>
            <a:off x="502920" y="365760"/>
            <a:ext cx="1005840" cy="438912"/>
          </a:xfrm>
          <a:prstGeom prst="roundRect">
            <a:avLst>
              <a:gd fmla="val 16667" name="adj"/>
            </a:avLst>
          </a:prstGeom>
          <a:solidFill>
            <a:srgbClr val="FFD166"/>
          </a:solidFill>
          <a:ln cap="flat" cmpd="sng" w="12700">
            <a:solidFill>
              <a:srgbClr val="FFD1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4" name="Google Shape;344;p14"/>
          <p:cNvSpPr/>
          <p:nvPr/>
        </p:nvSpPr>
        <p:spPr>
          <a:xfrm>
            <a:off x="502920" y="365760"/>
            <a:ext cx="100584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04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4"/>
          <p:cNvSpPr/>
          <p:nvPr/>
        </p:nvSpPr>
        <p:spPr>
          <a:xfrm>
            <a:off x="1691640" y="320040"/>
            <a:ext cx="72237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Try It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4"/>
          <p:cNvSpPr/>
          <p:nvPr/>
        </p:nvSpPr>
        <p:spPr>
          <a:xfrm>
            <a:off x="228600" y="914400"/>
            <a:ext cx="5669280" cy="457200"/>
          </a:xfrm>
          <a:prstGeom prst="rect">
            <a:avLst/>
          </a:prstGeom>
          <a:solidFill>
            <a:srgbClr val="FFD166"/>
          </a:solidFill>
          <a:ln cap="flat" cmpd="sng" w="12700">
            <a:solidFill>
              <a:srgbClr val="FFD1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7" name="Google Shape;347;p14"/>
          <p:cNvSpPr/>
          <p:nvPr/>
        </p:nvSpPr>
        <p:spPr>
          <a:xfrm>
            <a:off x="320040" y="914400"/>
            <a:ext cx="5486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Build Your First Baseplate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p14"/>
          <p:cNvSpPr/>
          <p:nvPr/>
        </p:nvSpPr>
        <p:spPr>
          <a:xfrm>
            <a:off x="228600" y="1371600"/>
            <a:ext cx="5669280" cy="246888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12700">
              <a:srgbClr val="000000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9" name="Google Shape;349;p14"/>
          <p:cNvSpPr/>
          <p:nvPr/>
        </p:nvSpPr>
        <p:spPr>
          <a:xfrm>
            <a:off x="347472" y="1508760"/>
            <a:ext cx="274320" cy="274320"/>
          </a:xfrm>
          <a:prstGeom prst="rect">
            <a:avLst/>
          </a:prstGeom>
          <a:solidFill>
            <a:srgbClr val="FFD166"/>
          </a:solidFill>
          <a:ln cap="flat" cmpd="sng" w="12700">
            <a:solidFill>
              <a:srgbClr val="FFD1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0" name="Google Shape;350;p14"/>
          <p:cNvSpPr/>
          <p:nvPr/>
        </p:nvSpPr>
        <p:spPr>
          <a:xfrm>
            <a:off x="347472" y="1508760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14"/>
          <p:cNvSpPr/>
          <p:nvPr/>
        </p:nvSpPr>
        <p:spPr>
          <a:xfrm>
            <a:off x="713232" y="1463040"/>
            <a:ext cx="50749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Open a new Baseplate template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14"/>
          <p:cNvSpPr/>
          <p:nvPr/>
        </p:nvSpPr>
        <p:spPr>
          <a:xfrm>
            <a:off x="347472" y="1956816"/>
            <a:ext cx="274320" cy="274320"/>
          </a:xfrm>
          <a:prstGeom prst="rect">
            <a:avLst/>
          </a:prstGeom>
          <a:solidFill>
            <a:srgbClr val="FFD166"/>
          </a:solidFill>
          <a:ln cap="flat" cmpd="sng" w="12700">
            <a:solidFill>
              <a:srgbClr val="FFD1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3" name="Google Shape;353;p14"/>
          <p:cNvSpPr/>
          <p:nvPr/>
        </p:nvSpPr>
        <p:spPr>
          <a:xfrm>
            <a:off x="347472" y="1956816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14"/>
          <p:cNvSpPr/>
          <p:nvPr/>
        </p:nvSpPr>
        <p:spPr>
          <a:xfrm>
            <a:off x="713232" y="1911096"/>
            <a:ext cx="50749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Insert a Part and change its Color, Size, Material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14"/>
          <p:cNvSpPr/>
          <p:nvPr/>
        </p:nvSpPr>
        <p:spPr>
          <a:xfrm>
            <a:off x="347472" y="2404872"/>
            <a:ext cx="274320" cy="274320"/>
          </a:xfrm>
          <a:prstGeom prst="rect">
            <a:avLst/>
          </a:prstGeom>
          <a:solidFill>
            <a:srgbClr val="FFD166"/>
          </a:solidFill>
          <a:ln cap="flat" cmpd="sng" w="12700">
            <a:solidFill>
              <a:srgbClr val="FFD1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6" name="Google Shape;356;p14"/>
          <p:cNvSpPr/>
          <p:nvPr/>
        </p:nvSpPr>
        <p:spPr>
          <a:xfrm>
            <a:off x="347472" y="2404872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14"/>
          <p:cNvSpPr/>
          <p:nvPr/>
        </p:nvSpPr>
        <p:spPr>
          <a:xfrm>
            <a:off x="713232" y="2359152"/>
            <a:ext cx="50749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Use the Move tool (W) to position it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" name="Google Shape;358;p14"/>
          <p:cNvSpPr/>
          <p:nvPr/>
        </p:nvSpPr>
        <p:spPr>
          <a:xfrm>
            <a:off x="347472" y="2852928"/>
            <a:ext cx="274320" cy="274320"/>
          </a:xfrm>
          <a:prstGeom prst="rect">
            <a:avLst/>
          </a:prstGeom>
          <a:solidFill>
            <a:srgbClr val="FFD166"/>
          </a:solidFill>
          <a:ln cap="flat" cmpd="sng" w="12700">
            <a:solidFill>
              <a:srgbClr val="FFD1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9" name="Google Shape;359;p14"/>
          <p:cNvSpPr/>
          <p:nvPr/>
        </p:nvSpPr>
        <p:spPr>
          <a:xfrm>
            <a:off x="347472" y="2852928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14"/>
          <p:cNvSpPr/>
          <p:nvPr/>
        </p:nvSpPr>
        <p:spPr>
          <a:xfrm>
            <a:off x="713232" y="2807208"/>
            <a:ext cx="50749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Duplicate it (Ctrl+D) — build something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14"/>
          <p:cNvSpPr/>
          <p:nvPr/>
        </p:nvSpPr>
        <p:spPr>
          <a:xfrm>
            <a:off x="347472" y="3300984"/>
            <a:ext cx="274320" cy="274320"/>
          </a:xfrm>
          <a:prstGeom prst="rect">
            <a:avLst/>
          </a:prstGeom>
          <a:solidFill>
            <a:srgbClr val="FFD166"/>
          </a:solidFill>
          <a:ln cap="flat" cmpd="sng" w="12700">
            <a:solidFill>
              <a:srgbClr val="FFD1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2" name="Google Shape;362;p14"/>
          <p:cNvSpPr/>
          <p:nvPr/>
        </p:nvSpPr>
        <p:spPr>
          <a:xfrm>
            <a:off x="347472" y="3300984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14"/>
          <p:cNvSpPr/>
          <p:nvPr/>
        </p:nvSpPr>
        <p:spPr>
          <a:xfrm>
            <a:off x="713232" y="3255264"/>
            <a:ext cx="50749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Hit Play and walk around. Save to GitHub.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14"/>
          <p:cNvSpPr/>
          <p:nvPr/>
        </p:nvSpPr>
        <p:spPr>
          <a:xfrm>
            <a:off x="228600" y="3931920"/>
            <a:ext cx="5669280" cy="777240"/>
          </a:xfrm>
          <a:prstGeom prst="rect">
            <a:avLst/>
          </a:prstGeom>
          <a:solidFill>
            <a:srgbClr val="1B2A3B"/>
          </a:solidFill>
          <a:ln cap="flat" cmpd="sng" w="12700">
            <a:solidFill>
              <a:srgbClr val="1B2A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5" name="Google Shape;365;p14"/>
          <p:cNvSpPr/>
          <p:nvPr/>
        </p:nvSpPr>
        <p:spPr>
          <a:xfrm>
            <a:off x="411480" y="3931920"/>
            <a:ext cx="54864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CD4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rgbClr val="00BCD4"/>
                </a:solidFill>
                <a:latin typeface="Calibri"/>
                <a:ea typeface="Calibri"/>
                <a:cs typeface="Calibri"/>
                <a:sym typeface="Calibri"/>
              </a:rPr>
              <a:t>"Every Roblox game ever was built in exactly this tool."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14"/>
          <p:cNvSpPr/>
          <p:nvPr/>
        </p:nvSpPr>
        <p:spPr>
          <a:xfrm>
            <a:off x="6035040" y="914400"/>
            <a:ext cx="2880360" cy="379476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12700">
              <a:srgbClr val="000000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7" name="Google Shape;367;p14"/>
          <p:cNvSpPr/>
          <p:nvPr/>
        </p:nvSpPr>
        <p:spPr>
          <a:xfrm>
            <a:off x="6035040" y="914400"/>
            <a:ext cx="2880360" cy="457200"/>
          </a:xfrm>
          <a:prstGeom prst="rect">
            <a:avLst/>
          </a:prstGeom>
          <a:solidFill>
            <a:srgbClr val="1B2A3B"/>
          </a:solidFill>
          <a:ln cap="flat" cmpd="sng" w="12700">
            <a:solidFill>
              <a:srgbClr val="1B2A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8" name="Google Shape;368;p14"/>
          <p:cNvSpPr/>
          <p:nvPr/>
        </p:nvSpPr>
        <p:spPr>
          <a:xfrm>
            <a:off x="6126480" y="914400"/>
            <a:ext cx="2743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166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D166"/>
                </a:solidFill>
                <a:latin typeface="Calibri"/>
                <a:ea typeface="Calibri"/>
                <a:cs typeface="Calibri"/>
                <a:sym typeface="Calibri"/>
              </a:rPr>
              <a:t>SKILLS UNLOCKED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9" name="Google Shape;369;p14"/>
          <p:cNvSpPr/>
          <p:nvPr/>
        </p:nvSpPr>
        <p:spPr>
          <a:xfrm>
            <a:off x="6126480" y="1463040"/>
            <a:ext cx="2697480" cy="3108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Navigates Studio · Places &amp; edits Parts · Playtests · Saves .rbxl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" name="Google Shape;370;p14"/>
          <p:cNvSpPr/>
          <p:nvPr/>
        </p:nvSpPr>
        <p:spPr>
          <a:xfrm>
            <a:off x="182880" y="4846320"/>
            <a:ext cx="87782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JS Bros Lab · Lesson 04 · Activity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1B2A"/>
        </a:solidFill>
      </p:bgPr>
    </p:bg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15"/>
          <p:cNvSpPr/>
          <p:nvPr/>
        </p:nvSpPr>
        <p:spPr>
          <a:xfrm>
            <a:off x="0" y="0"/>
            <a:ext cx="457200" cy="5143500"/>
          </a:xfrm>
          <a:prstGeom prst="rect">
            <a:avLst/>
          </a:prstGeom>
          <a:solidFill>
            <a:srgbClr val="00BCD4"/>
          </a:solidFill>
          <a:ln cap="flat" cmpd="sng" w="12700">
            <a:solidFill>
              <a:srgbClr val="00BC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7" name="Google Shape;377;p15"/>
          <p:cNvSpPr/>
          <p:nvPr/>
        </p:nvSpPr>
        <p:spPr>
          <a:xfrm>
            <a:off x="640080" y="457200"/>
            <a:ext cx="320040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CD4"/>
              </a:buClr>
              <a:buSzPts val="13000"/>
              <a:buFont typeface="Calibri"/>
              <a:buNone/>
            </a:pPr>
            <a:r>
              <a:rPr b="1" i="0" lang="en-US" sz="13000" u="none" cap="none" strike="noStrike">
                <a:solidFill>
                  <a:srgbClr val="00BCD4"/>
                </a:solidFill>
                <a:latin typeface="Calibri"/>
                <a:ea typeface="Calibri"/>
                <a:cs typeface="Calibri"/>
                <a:sym typeface="Calibri"/>
              </a:rPr>
              <a:t>05</a:t>
            </a:r>
            <a:endParaRPr b="0" i="0" sz="1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15"/>
          <p:cNvSpPr/>
          <p:nvPr/>
        </p:nvSpPr>
        <p:spPr>
          <a:xfrm>
            <a:off x="640080" y="502920"/>
            <a:ext cx="2743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CD4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0BCD4"/>
                </a:solidFill>
                <a:latin typeface="Calibri"/>
                <a:ea typeface="Calibri"/>
                <a:cs typeface="Calibri"/>
                <a:sym typeface="Calibri"/>
              </a:rPr>
              <a:t>LESSON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15"/>
          <p:cNvSpPr/>
          <p:nvPr/>
        </p:nvSpPr>
        <p:spPr>
          <a:xfrm>
            <a:off x="640080" y="2651760"/>
            <a:ext cx="804672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800"/>
              <a:buFont typeface="Calibri"/>
              <a:buNone/>
            </a:pPr>
            <a:r>
              <a:rPr b="1" i="0" lang="en-US" sz="3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Lua Basics</a:t>
            </a:r>
            <a:endParaRPr b="0" i="0" sz="3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15"/>
          <p:cNvSpPr/>
          <p:nvPr/>
        </p:nvSpPr>
        <p:spPr>
          <a:xfrm>
            <a:off x="640080" y="3703320"/>
            <a:ext cx="77724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800"/>
              <a:buFont typeface="Calibri"/>
              <a:buNone/>
            </a:pPr>
            <a:r>
              <a:rPr b="0" i="0" lang="en-US" sz="18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Writing your first real code inside the world you built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" name="Google Shape;381;p15"/>
          <p:cNvSpPr/>
          <p:nvPr/>
        </p:nvSpPr>
        <p:spPr>
          <a:xfrm>
            <a:off x="7132320" y="274320"/>
            <a:ext cx="1737360" cy="384048"/>
          </a:xfrm>
          <a:prstGeom prst="roundRect">
            <a:avLst>
              <a:gd fmla="val 14286" name="adj"/>
            </a:avLst>
          </a:prstGeom>
          <a:solidFill>
            <a:srgbClr val="00BCD4"/>
          </a:solidFill>
          <a:ln cap="flat" cmpd="sng" w="12700">
            <a:solidFill>
              <a:srgbClr val="00BC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2" name="Google Shape;382;p15"/>
          <p:cNvSpPr/>
          <p:nvPr/>
        </p:nvSpPr>
        <p:spPr>
          <a:xfrm>
            <a:off x="7132320" y="274320"/>
            <a:ext cx="17373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⏱ 60 min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383;p15"/>
          <p:cNvSpPr/>
          <p:nvPr/>
        </p:nvSpPr>
        <p:spPr>
          <a:xfrm>
            <a:off x="182880" y="4846320"/>
            <a:ext cx="87782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JS Bros Lab · Lesson 05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7FB"/>
        </a:solidFill>
      </p:bgPr>
    </p:bg>
    <p:spTree>
      <p:nvGrpSpPr>
        <p:cNvPr id="388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p16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0BCD4"/>
          </a:solidFill>
          <a:ln cap="flat" cmpd="sng" w="12700">
            <a:solidFill>
              <a:srgbClr val="00BC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0" name="Google Shape;390;p16"/>
          <p:cNvSpPr/>
          <p:nvPr/>
        </p:nvSpPr>
        <p:spPr>
          <a:xfrm>
            <a:off x="502920" y="365760"/>
            <a:ext cx="1005840" cy="438912"/>
          </a:xfrm>
          <a:prstGeom prst="roundRect">
            <a:avLst>
              <a:gd fmla="val 16667" name="adj"/>
            </a:avLst>
          </a:prstGeom>
          <a:solidFill>
            <a:srgbClr val="00BCD4"/>
          </a:solidFill>
          <a:ln cap="flat" cmpd="sng" w="12700">
            <a:solidFill>
              <a:srgbClr val="00BC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1" name="Google Shape;391;p16"/>
          <p:cNvSpPr/>
          <p:nvPr/>
        </p:nvSpPr>
        <p:spPr>
          <a:xfrm>
            <a:off x="502920" y="365760"/>
            <a:ext cx="100584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05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16"/>
          <p:cNvSpPr/>
          <p:nvPr/>
        </p:nvSpPr>
        <p:spPr>
          <a:xfrm>
            <a:off x="1691640" y="320040"/>
            <a:ext cx="72237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Key Concepts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16"/>
          <p:cNvSpPr/>
          <p:nvPr/>
        </p:nvSpPr>
        <p:spPr>
          <a:xfrm>
            <a:off x="228600" y="914400"/>
            <a:ext cx="8686800" cy="384048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8100000" dist="25400">
              <a:srgbClr val="000000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4" name="Google Shape;394;p16"/>
          <p:cNvSpPr/>
          <p:nvPr/>
        </p:nvSpPr>
        <p:spPr>
          <a:xfrm>
            <a:off x="411480" y="1051560"/>
            <a:ext cx="347472" cy="347472"/>
          </a:xfrm>
          <a:prstGeom prst="ellipse">
            <a:avLst/>
          </a:prstGeom>
          <a:solidFill>
            <a:srgbClr val="00BCD4"/>
          </a:solidFill>
          <a:ln cap="flat" cmpd="sng" w="12700">
            <a:solidFill>
              <a:srgbClr val="00BC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5" name="Google Shape;395;p16"/>
          <p:cNvSpPr/>
          <p:nvPr/>
        </p:nvSpPr>
        <p:spPr>
          <a:xfrm>
            <a:off x="411480" y="105156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" name="Google Shape;396;p16"/>
          <p:cNvSpPr/>
          <p:nvPr/>
        </p:nvSpPr>
        <p:spPr>
          <a:xfrm>
            <a:off x="868680" y="1005840"/>
            <a:ext cx="78638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600"/>
              <a:buFont typeface="Courier New"/>
              <a:buNone/>
            </a:pPr>
            <a:r>
              <a:rPr b="0" i="0" lang="en-US" sz="1600" u="none" cap="none" strike="noStrike">
                <a:solidFill>
                  <a:srgbClr val="0D1B2A"/>
                </a:solidFill>
                <a:latin typeface="Courier New"/>
                <a:ea typeface="Courier New"/>
                <a:cs typeface="Courier New"/>
                <a:sym typeface="Courier New"/>
              </a:rPr>
              <a:t>print("Hello!")  — shows text in Output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16"/>
          <p:cNvSpPr/>
          <p:nvPr/>
        </p:nvSpPr>
        <p:spPr>
          <a:xfrm>
            <a:off x="411480" y="1719072"/>
            <a:ext cx="347472" cy="347472"/>
          </a:xfrm>
          <a:prstGeom prst="ellipse">
            <a:avLst/>
          </a:prstGeom>
          <a:solidFill>
            <a:srgbClr val="00BCD4"/>
          </a:solidFill>
          <a:ln cap="flat" cmpd="sng" w="12700">
            <a:solidFill>
              <a:srgbClr val="00BC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8" name="Google Shape;398;p16"/>
          <p:cNvSpPr/>
          <p:nvPr/>
        </p:nvSpPr>
        <p:spPr>
          <a:xfrm>
            <a:off x="411480" y="1719072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" name="Google Shape;399;p16"/>
          <p:cNvSpPr/>
          <p:nvPr/>
        </p:nvSpPr>
        <p:spPr>
          <a:xfrm>
            <a:off x="868680" y="1673352"/>
            <a:ext cx="78638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600"/>
              <a:buFont typeface="Courier New"/>
              <a:buNone/>
            </a:pPr>
            <a:r>
              <a:rPr b="0" i="0" lang="en-US" sz="1600" u="none" cap="none" strike="noStrike">
                <a:solidFill>
                  <a:srgbClr val="0D1B2A"/>
                </a:solidFill>
                <a:latin typeface="Courier New"/>
                <a:ea typeface="Courier New"/>
                <a:cs typeface="Courier New"/>
                <a:sym typeface="Courier New"/>
              </a:rPr>
              <a:t>local score = 0  — create a variable with local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" name="Google Shape;400;p16"/>
          <p:cNvSpPr/>
          <p:nvPr/>
        </p:nvSpPr>
        <p:spPr>
          <a:xfrm>
            <a:off x="411480" y="2386584"/>
            <a:ext cx="347472" cy="347472"/>
          </a:xfrm>
          <a:prstGeom prst="ellipse">
            <a:avLst/>
          </a:prstGeom>
          <a:solidFill>
            <a:srgbClr val="00BCD4"/>
          </a:solidFill>
          <a:ln cap="flat" cmpd="sng" w="12700">
            <a:solidFill>
              <a:srgbClr val="00BC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1" name="Google Shape;401;p16"/>
          <p:cNvSpPr/>
          <p:nvPr/>
        </p:nvSpPr>
        <p:spPr>
          <a:xfrm>
            <a:off x="411480" y="2386584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" name="Google Shape;402;p16"/>
          <p:cNvSpPr/>
          <p:nvPr/>
        </p:nvSpPr>
        <p:spPr>
          <a:xfrm>
            <a:off x="868680" y="2340864"/>
            <a:ext cx="78638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600"/>
              <a:buFont typeface="Courier New"/>
              <a:buNone/>
            </a:pPr>
            <a:r>
              <a:rPr b="0" i="0" lang="en-US" sz="1600" u="none" cap="none" strike="noStrike">
                <a:solidFill>
                  <a:srgbClr val="0D1B2A"/>
                </a:solidFill>
                <a:latin typeface="Courier New"/>
                <a:ea typeface="Courier New"/>
                <a:cs typeface="Courier New"/>
                <a:sym typeface="Courier New"/>
              </a:rPr>
              <a:t>local name = "Jaxon"  — strings use quotes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Google Shape;403;p16"/>
          <p:cNvSpPr/>
          <p:nvPr/>
        </p:nvSpPr>
        <p:spPr>
          <a:xfrm>
            <a:off x="411480" y="3054096"/>
            <a:ext cx="347472" cy="347472"/>
          </a:xfrm>
          <a:prstGeom prst="ellipse">
            <a:avLst/>
          </a:prstGeom>
          <a:solidFill>
            <a:srgbClr val="00BCD4"/>
          </a:solidFill>
          <a:ln cap="flat" cmpd="sng" w="12700">
            <a:solidFill>
              <a:srgbClr val="00BC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4" name="Google Shape;404;p16"/>
          <p:cNvSpPr/>
          <p:nvPr/>
        </p:nvSpPr>
        <p:spPr>
          <a:xfrm>
            <a:off x="411480" y="3054096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5" name="Google Shape;405;p16"/>
          <p:cNvSpPr/>
          <p:nvPr/>
        </p:nvSpPr>
        <p:spPr>
          <a:xfrm>
            <a:off x="868680" y="3008376"/>
            <a:ext cx="78638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600"/>
              <a:buFont typeface="Courier New"/>
              <a:buNone/>
            </a:pPr>
            <a:r>
              <a:rPr b="0" i="0" lang="en-US" sz="1600" u="none" cap="none" strike="noStrike">
                <a:solidFill>
                  <a:srgbClr val="0D1B2A"/>
                </a:solidFill>
                <a:latin typeface="Courier New"/>
                <a:ea typeface="Courier New"/>
                <a:cs typeface="Courier New"/>
                <a:sym typeface="Courier New"/>
              </a:rPr>
              <a:t>local alive = true  — booleans are true or false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6" name="Google Shape;406;p16"/>
          <p:cNvSpPr/>
          <p:nvPr/>
        </p:nvSpPr>
        <p:spPr>
          <a:xfrm>
            <a:off x="411480" y="3721608"/>
            <a:ext cx="347472" cy="347472"/>
          </a:xfrm>
          <a:prstGeom prst="ellipse">
            <a:avLst/>
          </a:prstGeom>
          <a:solidFill>
            <a:srgbClr val="00BCD4"/>
          </a:solidFill>
          <a:ln cap="flat" cmpd="sng" w="12700">
            <a:solidFill>
              <a:srgbClr val="00BC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7" name="Google Shape;407;p16"/>
          <p:cNvSpPr/>
          <p:nvPr/>
        </p:nvSpPr>
        <p:spPr>
          <a:xfrm>
            <a:off x="411480" y="3721608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16"/>
          <p:cNvSpPr/>
          <p:nvPr/>
        </p:nvSpPr>
        <p:spPr>
          <a:xfrm>
            <a:off x="868680" y="3675888"/>
            <a:ext cx="78638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600"/>
              <a:buFont typeface="Courier New"/>
              <a:buNone/>
            </a:pPr>
            <a:r>
              <a:rPr b="0" i="0" lang="en-US" sz="1600" u="none" cap="none" strike="noStrike">
                <a:solidFill>
                  <a:srgbClr val="0D1B2A"/>
                </a:solidFill>
                <a:latin typeface="Courier New"/>
                <a:ea typeface="Courier New"/>
                <a:cs typeface="Courier New"/>
                <a:sym typeface="Courier New"/>
              </a:rPr>
              <a:t>if score &gt;= 10 then ... elseif ... else ... end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" name="Google Shape;409;p16"/>
          <p:cNvSpPr/>
          <p:nvPr/>
        </p:nvSpPr>
        <p:spPr>
          <a:xfrm>
            <a:off x="182880" y="4846320"/>
            <a:ext cx="87782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JS Bros Lab · Lesson 05 · Key Concepts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7FB"/>
        </a:solidFill>
      </p:bgPr>
    </p:bg>
    <p:spTree>
      <p:nvGrpSpPr>
        <p:cNvPr id="414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p17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0BCD4"/>
          </a:solidFill>
          <a:ln cap="flat" cmpd="sng" w="12700">
            <a:solidFill>
              <a:srgbClr val="00BC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6" name="Google Shape;416;p17"/>
          <p:cNvSpPr/>
          <p:nvPr/>
        </p:nvSpPr>
        <p:spPr>
          <a:xfrm>
            <a:off x="502920" y="365760"/>
            <a:ext cx="1005840" cy="438912"/>
          </a:xfrm>
          <a:prstGeom prst="roundRect">
            <a:avLst>
              <a:gd fmla="val 16667" name="adj"/>
            </a:avLst>
          </a:prstGeom>
          <a:solidFill>
            <a:srgbClr val="00BCD4"/>
          </a:solidFill>
          <a:ln cap="flat" cmpd="sng" w="12700">
            <a:solidFill>
              <a:srgbClr val="00BC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7" name="Google Shape;417;p17"/>
          <p:cNvSpPr/>
          <p:nvPr/>
        </p:nvSpPr>
        <p:spPr>
          <a:xfrm>
            <a:off x="502920" y="365760"/>
            <a:ext cx="100584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05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17"/>
          <p:cNvSpPr/>
          <p:nvPr/>
        </p:nvSpPr>
        <p:spPr>
          <a:xfrm>
            <a:off x="1691640" y="320040"/>
            <a:ext cx="72237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Try It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" name="Google Shape;419;p17"/>
          <p:cNvSpPr/>
          <p:nvPr/>
        </p:nvSpPr>
        <p:spPr>
          <a:xfrm>
            <a:off x="228600" y="914400"/>
            <a:ext cx="5669280" cy="457200"/>
          </a:xfrm>
          <a:prstGeom prst="rect">
            <a:avLst/>
          </a:prstGeom>
          <a:solidFill>
            <a:srgbClr val="00BCD4"/>
          </a:solidFill>
          <a:ln cap="flat" cmpd="sng" w="12700">
            <a:solidFill>
              <a:srgbClr val="00BC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0" name="Google Shape;420;p17"/>
          <p:cNvSpPr/>
          <p:nvPr/>
        </p:nvSpPr>
        <p:spPr>
          <a:xfrm>
            <a:off x="320040" y="914400"/>
            <a:ext cx="5486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Touch Event Script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1" name="Google Shape;421;p17"/>
          <p:cNvSpPr/>
          <p:nvPr/>
        </p:nvSpPr>
        <p:spPr>
          <a:xfrm>
            <a:off x="228600" y="1371600"/>
            <a:ext cx="5669280" cy="246888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12700">
              <a:srgbClr val="000000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2" name="Google Shape;422;p17"/>
          <p:cNvSpPr/>
          <p:nvPr/>
        </p:nvSpPr>
        <p:spPr>
          <a:xfrm>
            <a:off x="347472" y="1508760"/>
            <a:ext cx="274320" cy="274320"/>
          </a:xfrm>
          <a:prstGeom prst="rect">
            <a:avLst/>
          </a:prstGeom>
          <a:solidFill>
            <a:srgbClr val="00BCD4"/>
          </a:solidFill>
          <a:ln cap="flat" cmpd="sng" w="12700">
            <a:solidFill>
              <a:srgbClr val="00BC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3" name="Google Shape;423;p17"/>
          <p:cNvSpPr/>
          <p:nvPr/>
        </p:nvSpPr>
        <p:spPr>
          <a:xfrm>
            <a:off x="347472" y="1508760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4" name="Google Shape;424;p17"/>
          <p:cNvSpPr/>
          <p:nvPr/>
        </p:nvSpPr>
        <p:spPr>
          <a:xfrm>
            <a:off x="713232" y="1463040"/>
            <a:ext cx="50749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In ServerScriptService → new Script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" name="Google Shape;425;p17"/>
          <p:cNvSpPr/>
          <p:nvPr/>
        </p:nvSpPr>
        <p:spPr>
          <a:xfrm>
            <a:off x="347472" y="1956816"/>
            <a:ext cx="274320" cy="274320"/>
          </a:xfrm>
          <a:prstGeom prst="rect">
            <a:avLst/>
          </a:prstGeom>
          <a:solidFill>
            <a:srgbClr val="00BCD4"/>
          </a:solidFill>
          <a:ln cap="flat" cmpd="sng" w="12700">
            <a:solidFill>
              <a:srgbClr val="00BC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6" name="Google Shape;426;p17"/>
          <p:cNvSpPr/>
          <p:nvPr/>
        </p:nvSpPr>
        <p:spPr>
          <a:xfrm>
            <a:off x="347472" y="1956816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" name="Google Shape;427;p17"/>
          <p:cNvSpPr/>
          <p:nvPr/>
        </p:nvSpPr>
        <p:spPr>
          <a:xfrm>
            <a:off x="713232" y="1911096"/>
            <a:ext cx="50749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Print a welcome message, then listen for PlayerAdded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" name="Google Shape;428;p17"/>
          <p:cNvSpPr/>
          <p:nvPr/>
        </p:nvSpPr>
        <p:spPr>
          <a:xfrm>
            <a:off x="347472" y="2404872"/>
            <a:ext cx="274320" cy="274320"/>
          </a:xfrm>
          <a:prstGeom prst="rect">
            <a:avLst/>
          </a:prstGeom>
          <a:solidFill>
            <a:srgbClr val="00BCD4"/>
          </a:solidFill>
          <a:ln cap="flat" cmpd="sng" w="12700">
            <a:solidFill>
              <a:srgbClr val="00BC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9" name="Google Shape;429;p17"/>
          <p:cNvSpPr/>
          <p:nvPr/>
        </p:nvSpPr>
        <p:spPr>
          <a:xfrm>
            <a:off x="347472" y="2404872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17"/>
          <p:cNvSpPr/>
          <p:nvPr/>
        </p:nvSpPr>
        <p:spPr>
          <a:xfrm>
            <a:off x="713232" y="2359152"/>
            <a:ext cx="50749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Place a Part in Workspace → add Script inside it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" name="Google Shape;431;p17"/>
          <p:cNvSpPr/>
          <p:nvPr/>
        </p:nvSpPr>
        <p:spPr>
          <a:xfrm>
            <a:off x="347472" y="2852928"/>
            <a:ext cx="274320" cy="274320"/>
          </a:xfrm>
          <a:prstGeom prst="rect">
            <a:avLst/>
          </a:prstGeom>
          <a:solidFill>
            <a:srgbClr val="00BCD4"/>
          </a:solidFill>
          <a:ln cap="flat" cmpd="sng" w="12700">
            <a:solidFill>
              <a:srgbClr val="00BC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2" name="Google Shape;432;p17"/>
          <p:cNvSpPr/>
          <p:nvPr/>
        </p:nvSpPr>
        <p:spPr>
          <a:xfrm>
            <a:off x="347472" y="2852928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3" name="Google Shape;433;p17"/>
          <p:cNvSpPr/>
          <p:nvPr/>
        </p:nvSpPr>
        <p:spPr>
          <a:xfrm>
            <a:off x="713232" y="2807208"/>
            <a:ext cx="50749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On Touched: change BrickColor, print who touched it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4" name="Google Shape;434;p17"/>
          <p:cNvSpPr/>
          <p:nvPr/>
        </p:nvSpPr>
        <p:spPr>
          <a:xfrm>
            <a:off x="347472" y="3300984"/>
            <a:ext cx="274320" cy="274320"/>
          </a:xfrm>
          <a:prstGeom prst="rect">
            <a:avLst/>
          </a:prstGeom>
          <a:solidFill>
            <a:srgbClr val="00BCD4"/>
          </a:solidFill>
          <a:ln cap="flat" cmpd="sng" w="12700">
            <a:solidFill>
              <a:srgbClr val="00BC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5" name="Google Shape;435;p17"/>
          <p:cNvSpPr/>
          <p:nvPr/>
        </p:nvSpPr>
        <p:spPr>
          <a:xfrm>
            <a:off x="347472" y="3300984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17"/>
          <p:cNvSpPr/>
          <p:nvPr/>
        </p:nvSpPr>
        <p:spPr>
          <a:xfrm>
            <a:off x="713232" y="3255264"/>
            <a:ext cx="50749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Use task.wait(2) to reset the color after 2 seconds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" name="Google Shape;437;p17"/>
          <p:cNvSpPr/>
          <p:nvPr/>
        </p:nvSpPr>
        <p:spPr>
          <a:xfrm>
            <a:off x="228600" y="3931920"/>
            <a:ext cx="5669280" cy="777240"/>
          </a:xfrm>
          <a:prstGeom prst="rect">
            <a:avLst/>
          </a:prstGeom>
          <a:solidFill>
            <a:srgbClr val="1B2A3B"/>
          </a:solidFill>
          <a:ln cap="flat" cmpd="sng" w="12700">
            <a:solidFill>
              <a:srgbClr val="1B2A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8" name="Google Shape;438;p17"/>
          <p:cNvSpPr/>
          <p:nvPr/>
        </p:nvSpPr>
        <p:spPr>
          <a:xfrm>
            <a:off x="411480" y="3931920"/>
            <a:ext cx="54864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CD4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rgbClr val="00BCD4"/>
                </a:solidFill>
                <a:latin typeface="Calibri"/>
                <a:ea typeface="Calibri"/>
                <a:cs typeface="Calibri"/>
                <a:sym typeface="Calibri"/>
              </a:rPr>
              <a:t>script.Parent · Touched:Connect(onTouch) · task.wait()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9" name="Google Shape;439;p17"/>
          <p:cNvSpPr/>
          <p:nvPr/>
        </p:nvSpPr>
        <p:spPr>
          <a:xfrm>
            <a:off x="6035040" y="914400"/>
            <a:ext cx="2880360" cy="379476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12700">
              <a:srgbClr val="000000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0" name="Google Shape;440;p17"/>
          <p:cNvSpPr/>
          <p:nvPr/>
        </p:nvSpPr>
        <p:spPr>
          <a:xfrm>
            <a:off x="6035040" y="914400"/>
            <a:ext cx="2880360" cy="457200"/>
          </a:xfrm>
          <a:prstGeom prst="rect">
            <a:avLst/>
          </a:prstGeom>
          <a:solidFill>
            <a:srgbClr val="1B2A3B"/>
          </a:solidFill>
          <a:ln cap="flat" cmpd="sng" w="12700">
            <a:solidFill>
              <a:srgbClr val="1B2A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1" name="Google Shape;441;p17"/>
          <p:cNvSpPr/>
          <p:nvPr/>
        </p:nvSpPr>
        <p:spPr>
          <a:xfrm>
            <a:off x="6126480" y="914400"/>
            <a:ext cx="2743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CD4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0BCD4"/>
                </a:solidFill>
                <a:latin typeface="Calibri"/>
                <a:ea typeface="Calibri"/>
                <a:cs typeface="Calibri"/>
                <a:sym typeface="Calibri"/>
              </a:rPr>
              <a:t>SKILLS UNLOCKED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2" name="Google Shape;442;p17"/>
          <p:cNvSpPr/>
          <p:nvPr/>
        </p:nvSpPr>
        <p:spPr>
          <a:xfrm>
            <a:off x="6126480" y="1463040"/>
            <a:ext cx="2697480" cy="3108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print · local variables · if/else · Touched event · script.Parent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3" name="Google Shape;443;p17"/>
          <p:cNvSpPr/>
          <p:nvPr/>
        </p:nvSpPr>
        <p:spPr>
          <a:xfrm>
            <a:off x="182880" y="4846320"/>
            <a:ext cx="87782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JS Bros Lab · Lesson 05 · Activity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1B2A"/>
        </a:solidFill>
      </p:bgPr>
    </p:bg>
    <p:spTree>
      <p:nvGrpSpPr>
        <p:cNvPr id="448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p18"/>
          <p:cNvSpPr/>
          <p:nvPr/>
        </p:nvSpPr>
        <p:spPr>
          <a:xfrm>
            <a:off x="0" y="0"/>
            <a:ext cx="457200" cy="5143500"/>
          </a:xfrm>
          <a:prstGeom prst="rect">
            <a:avLst/>
          </a:prstGeom>
          <a:solidFill>
            <a:srgbClr val="1565C0"/>
          </a:solidFill>
          <a:ln cap="flat" cmpd="sng" w="12700">
            <a:solidFill>
              <a:srgbClr val="1565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0" name="Google Shape;450;p18"/>
          <p:cNvSpPr/>
          <p:nvPr/>
        </p:nvSpPr>
        <p:spPr>
          <a:xfrm>
            <a:off x="640080" y="457200"/>
            <a:ext cx="320040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565C0"/>
              </a:buClr>
              <a:buSzPts val="13000"/>
              <a:buFont typeface="Calibri"/>
              <a:buNone/>
            </a:pPr>
            <a:r>
              <a:rPr b="1" i="0" lang="en-US" sz="13000" u="none" cap="none" strike="noStrike">
                <a:solidFill>
                  <a:srgbClr val="1565C0"/>
                </a:solidFill>
                <a:latin typeface="Calibri"/>
                <a:ea typeface="Calibri"/>
                <a:cs typeface="Calibri"/>
                <a:sym typeface="Calibri"/>
              </a:rPr>
              <a:t>06</a:t>
            </a:r>
            <a:endParaRPr b="0" i="0" sz="1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" name="Google Shape;451;p18"/>
          <p:cNvSpPr/>
          <p:nvPr/>
        </p:nvSpPr>
        <p:spPr>
          <a:xfrm>
            <a:off x="640080" y="502920"/>
            <a:ext cx="2743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565C0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565C0"/>
                </a:solidFill>
                <a:latin typeface="Calibri"/>
                <a:ea typeface="Calibri"/>
                <a:cs typeface="Calibri"/>
                <a:sym typeface="Calibri"/>
              </a:rPr>
              <a:t>LESSON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" name="Google Shape;452;p18"/>
          <p:cNvSpPr/>
          <p:nvPr/>
        </p:nvSpPr>
        <p:spPr>
          <a:xfrm>
            <a:off x="640080" y="2651760"/>
            <a:ext cx="804672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800"/>
              <a:buFont typeface="Calibri"/>
              <a:buNone/>
            </a:pPr>
            <a:r>
              <a:rPr b="1" i="0" lang="en-US" sz="3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Loops</a:t>
            </a:r>
            <a:endParaRPr b="0" i="0" sz="3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3" name="Google Shape;453;p18"/>
          <p:cNvSpPr/>
          <p:nvPr/>
        </p:nvSpPr>
        <p:spPr>
          <a:xfrm>
            <a:off x="640080" y="3703320"/>
            <a:ext cx="77724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800"/>
              <a:buFont typeface="Calibri"/>
              <a:buNone/>
            </a:pPr>
            <a:r>
              <a:rPr b="0" i="0" lang="en-US" sz="18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Making things happen over and over — automatically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4" name="Google Shape;454;p18"/>
          <p:cNvSpPr/>
          <p:nvPr/>
        </p:nvSpPr>
        <p:spPr>
          <a:xfrm>
            <a:off x="7132320" y="274320"/>
            <a:ext cx="1737360" cy="384048"/>
          </a:xfrm>
          <a:prstGeom prst="roundRect">
            <a:avLst>
              <a:gd fmla="val 14286" name="adj"/>
            </a:avLst>
          </a:prstGeom>
          <a:solidFill>
            <a:srgbClr val="1565C0"/>
          </a:solidFill>
          <a:ln cap="flat" cmpd="sng" w="12700">
            <a:solidFill>
              <a:srgbClr val="1565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5" name="Google Shape;455;p18"/>
          <p:cNvSpPr/>
          <p:nvPr/>
        </p:nvSpPr>
        <p:spPr>
          <a:xfrm>
            <a:off x="7132320" y="274320"/>
            <a:ext cx="17373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⏱ 60 min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6" name="Google Shape;456;p18"/>
          <p:cNvSpPr/>
          <p:nvPr/>
        </p:nvSpPr>
        <p:spPr>
          <a:xfrm>
            <a:off x="182880" y="4846320"/>
            <a:ext cx="87782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JS Bros Lab · Lesson 06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7FB"/>
        </a:solidFill>
      </p:bgPr>
    </p:bg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19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565C0"/>
          </a:solidFill>
          <a:ln cap="flat" cmpd="sng" w="12700">
            <a:solidFill>
              <a:srgbClr val="1565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3" name="Google Shape;463;p19"/>
          <p:cNvSpPr/>
          <p:nvPr/>
        </p:nvSpPr>
        <p:spPr>
          <a:xfrm>
            <a:off x="502920" y="365760"/>
            <a:ext cx="1005840" cy="438912"/>
          </a:xfrm>
          <a:prstGeom prst="roundRect">
            <a:avLst>
              <a:gd fmla="val 16667" name="adj"/>
            </a:avLst>
          </a:prstGeom>
          <a:solidFill>
            <a:srgbClr val="1565C0"/>
          </a:solidFill>
          <a:ln cap="flat" cmpd="sng" w="12700">
            <a:solidFill>
              <a:srgbClr val="1565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4" name="Google Shape;464;p19"/>
          <p:cNvSpPr/>
          <p:nvPr/>
        </p:nvSpPr>
        <p:spPr>
          <a:xfrm>
            <a:off x="502920" y="365760"/>
            <a:ext cx="100584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06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5" name="Google Shape;465;p19"/>
          <p:cNvSpPr/>
          <p:nvPr/>
        </p:nvSpPr>
        <p:spPr>
          <a:xfrm>
            <a:off x="1691640" y="320040"/>
            <a:ext cx="72237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Key Concepts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6" name="Google Shape;466;p19"/>
          <p:cNvSpPr/>
          <p:nvPr/>
        </p:nvSpPr>
        <p:spPr>
          <a:xfrm>
            <a:off x="228600" y="914400"/>
            <a:ext cx="8686800" cy="384048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8100000" dist="25400">
              <a:srgbClr val="000000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7" name="Google Shape;467;p19"/>
          <p:cNvSpPr/>
          <p:nvPr/>
        </p:nvSpPr>
        <p:spPr>
          <a:xfrm>
            <a:off x="411480" y="1051560"/>
            <a:ext cx="347472" cy="347472"/>
          </a:xfrm>
          <a:prstGeom prst="ellipse">
            <a:avLst/>
          </a:prstGeom>
          <a:solidFill>
            <a:srgbClr val="1565C0"/>
          </a:solidFill>
          <a:ln cap="flat" cmpd="sng" w="12700">
            <a:solidFill>
              <a:srgbClr val="1565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8" name="Google Shape;468;p19"/>
          <p:cNvSpPr/>
          <p:nvPr/>
        </p:nvSpPr>
        <p:spPr>
          <a:xfrm>
            <a:off x="411480" y="105156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19"/>
          <p:cNvSpPr/>
          <p:nvPr/>
        </p:nvSpPr>
        <p:spPr>
          <a:xfrm>
            <a:off x="868680" y="1005840"/>
            <a:ext cx="78638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600"/>
              <a:buFont typeface="Courier New"/>
              <a:buNone/>
            </a:pPr>
            <a:r>
              <a:rPr b="0" i="0" lang="en-US" sz="1600" u="none" cap="none" strike="noStrike">
                <a:solidFill>
                  <a:srgbClr val="0D1B2A"/>
                </a:solidFill>
                <a:latin typeface="Courier New"/>
                <a:ea typeface="Courier New"/>
                <a:cs typeface="Courier New"/>
                <a:sym typeface="Courier New"/>
              </a:rPr>
              <a:t>for i = 1, 10 do ... end  — counts 1 to 10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0" name="Google Shape;470;p19"/>
          <p:cNvSpPr/>
          <p:nvPr/>
        </p:nvSpPr>
        <p:spPr>
          <a:xfrm>
            <a:off x="411480" y="1719072"/>
            <a:ext cx="347472" cy="347472"/>
          </a:xfrm>
          <a:prstGeom prst="ellipse">
            <a:avLst/>
          </a:prstGeom>
          <a:solidFill>
            <a:srgbClr val="1565C0"/>
          </a:solidFill>
          <a:ln cap="flat" cmpd="sng" w="12700">
            <a:solidFill>
              <a:srgbClr val="1565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1" name="Google Shape;471;p19"/>
          <p:cNvSpPr/>
          <p:nvPr/>
        </p:nvSpPr>
        <p:spPr>
          <a:xfrm>
            <a:off x="411480" y="1719072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2" name="Google Shape;472;p19"/>
          <p:cNvSpPr/>
          <p:nvPr/>
        </p:nvSpPr>
        <p:spPr>
          <a:xfrm>
            <a:off x="868680" y="1673352"/>
            <a:ext cx="78638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600"/>
              <a:buFont typeface="Courier New"/>
              <a:buNone/>
            </a:pPr>
            <a:r>
              <a:rPr b="0" i="0" lang="en-US" sz="1600" u="none" cap="none" strike="noStrike">
                <a:solidFill>
                  <a:srgbClr val="0D1B2A"/>
                </a:solidFill>
                <a:latin typeface="Courier New"/>
                <a:ea typeface="Courier New"/>
                <a:cs typeface="Courier New"/>
                <a:sym typeface="Courier New"/>
              </a:rPr>
              <a:t>for i = 0, 20, 2 do ... end  — step by 2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3" name="Google Shape;473;p19"/>
          <p:cNvSpPr/>
          <p:nvPr/>
        </p:nvSpPr>
        <p:spPr>
          <a:xfrm>
            <a:off x="411480" y="2386584"/>
            <a:ext cx="347472" cy="347472"/>
          </a:xfrm>
          <a:prstGeom prst="ellipse">
            <a:avLst/>
          </a:prstGeom>
          <a:solidFill>
            <a:srgbClr val="1565C0"/>
          </a:solidFill>
          <a:ln cap="flat" cmpd="sng" w="12700">
            <a:solidFill>
              <a:srgbClr val="1565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4" name="Google Shape;474;p19"/>
          <p:cNvSpPr/>
          <p:nvPr/>
        </p:nvSpPr>
        <p:spPr>
          <a:xfrm>
            <a:off x="411480" y="2386584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5" name="Google Shape;475;p19"/>
          <p:cNvSpPr/>
          <p:nvPr/>
        </p:nvSpPr>
        <p:spPr>
          <a:xfrm>
            <a:off x="868680" y="2340864"/>
            <a:ext cx="78638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600"/>
              <a:buFont typeface="Courier New"/>
              <a:buNone/>
            </a:pPr>
            <a:r>
              <a:rPr b="0" i="0" lang="en-US" sz="1600" u="none" cap="none" strike="noStrike">
                <a:solidFill>
                  <a:srgbClr val="0D1B2A"/>
                </a:solidFill>
                <a:latin typeface="Courier New"/>
                <a:ea typeface="Courier New"/>
                <a:cs typeface="Courier New"/>
                <a:sym typeface="Courier New"/>
              </a:rPr>
              <a:t>for i = 10, 1, -1 do ... end  — count backwards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6" name="Google Shape;476;p19"/>
          <p:cNvSpPr/>
          <p:nvPr/>
        </p:nvSpPr>
        <p:spPr>
          <a:xfrm>
            <a:off x="411480" y="3054096"/>
            <a:ext cx="347472" cy="347472"/>
          </a:xfrm>
          <a:prstGeom prst="ellipse">
            <a:avLst/>
          </a:prstGeom>
          <a:solidFill>
            <a:srgbClr val="1565C0"/>
          </a:solidFill>
          <a:ln cap="flat" cmpd="sng" w="12700">
            <a:solidFill>
              <a:srgbClr val="1565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7" name="Google Shape;477;p19"/>
          <p:cNvSpPr/>
          <p:nvPr/>
        </p:nvSpPr>
        <p:spPr>
          <a:xfrm>
            <a:off x="411480" y="3054096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8" name="Google Shape;478;p19"/>
          <p:cNvSpPr/>
          <p:nvPr/>
        </p:nvSpPr>
        <p:spPr>
          <a:xfrm>
            <a:off x="868680" y="3008376"/>
            <a:ext cx="78638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600"/>
              <a:buFont typeface="Courier New"/>
              <a:buNone/>
            </a:pPr>
            <a:r>
              <a:rPr b="0" i="0" lang="en-US" sz="1600" u="none" cap="none" strike="noStrike">
                <a:solidFill>
                  <a:srgbClr val="0D1B2A"/>
                </a:solidFill>
                <a:latin typeface="Courier New"/>
                <a:ea typeface="Courier New"/>
                <a:cs typeface="Courier New"/>
                <a:sym typeface="Courier New"/>
              </a:rPr>
              <a:t>while condition do ... end  — keep going until false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9" name="Google Shape;479;p19"/>
          <p:cNvSpPr/>
          <p:nvPr/>
        </p:nvSpPr>
        <p:spPr>
          <a:xfrm>
            <a:off x="411480" y="3721608"/>
            <a:ext cx="347472" cy="347472"/>
          </a:xfrm>
          <a:prstGeom prst="ellipse">
            <a:avLst/>
          </a:prstGeom>
          <a:solidFill>
            <a:srgbClr val="1565C0"/>
          </a:solidFill>
          <a:ln cap="flat" cmpd="sng" w="12700">
            <a:solidFill>
              <a:srgbClr val="1565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0" name="Google Shape;480;p19"/>
          <p:cNvSpPr/>
          <p:nvPr/>
        </p:nvSpPr>
        <p:spPr>
          <a:xfrm>
            <a:off x="411480" y="3721608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1" name="Google Shape;481;p19"/>
          <p:cNvSpPr/>
          <p:nvPr/>
        </p:nvSpPr>
        <p:spPr>
          <a:xfrm>
            <a:off x="868680" y="3675888"/>
            <a:ext cx="78638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600"/>
              <a:buFont typeface="Courier New"/>
              <a:buNone/>
            </a:pPr>
            <a:r>
              <a:rPr b="0" i="0" lang="en-US" sz="1600" u="none" cap="none" strike="noStrike">
                <a:solidFill>
                  <a:srgbClr val="0D1B2A"/>
                </a:solidFill>
                <a:latin typeface="Courier New"/>
                <a:ea typeface="Courier New"/>
                <a:cs typeface="Courier New"/>
                <a:sym typeface="Courier New"/>
              </a:rPr>
              <a:t>Always use task.wait() inside a while loop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" name="Google Shape;482;p19"/>
          <p:cNvSpPr/>
          <p:nvPr/>
        </p:nvSpPr>
        <p:spPr>
          <a:xfrm>
            <a:off x="182880" y="4846320"/>
            <a:ext cx="87782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JS Bros Lab · Lesson 06 · Key Concepts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7FB"/>
        </a:solidFill>
      </p:bgPr>
    </p:bg>
    <p:spTree>
      <p:nvGrpSpPr>
        <p:cNvPr id="487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Google Shape;488;p2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565C0"/>
          </a:solidFill>
          <a:ln cap="flat" cmpd="sng" w="12700">
            <a:solidFill>
              <a:srgbClr val="1565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9" name="Google Shape;489;p20"/>
          <p:cNvSpPr/>
          <p:nvPr/>
        </p:nvSpPr>
        <p:spPr>
          <a:xfrm>
            <a:off x="502920" y="365760"/>
            <a:ext cx="1005840" cy="438912"/>
          </a:xfrm>
          <a:prstGeom prst="roundRect">
            <a:avLst>
              <a:gd fmla="val 16667" name="adj"/>
            </a:avLst>
          </a:prstGeom>
          <a:solidFill>
            <a:srgbClr val="1565C0"/>
          </a:solidFill>
          <a:ln cap="flat" cmpd="sng" w="12700">
            <a:solidFill>
              <a:srgbClr val="1565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0" name="Google Shape;490;p20"/>
          <p:cNvSpPr/>
          <p:nvPr/>
        </p:nvSpPr>
        <p:spPr>
          <a:xfrm>
            <a:off x="502920" y="365760"/>
            <a:ext cx="100584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06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1" name="Google Shape;491;p20"/>
          <p:cNvSpPr/>
          <p:nvPr/>
        </p:nvSpPr>
        <p:spPr>
          <a:xfrm>
            <a:off x="1691640" y="320040"/>
            <a:ext cx="72237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Try It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2" name="Google Shape;492;p20"/>
          <p:cNvSpPr/>
          <p:nvPr/>
        </p:nvSpPr>
        <p:spPr>
          <a:xfrm>
            <a:off x="228600" y="914400"/>
            <a:ext cx="5669280" cy="457200"/>
          </a:xfrm>
          <a:prstGeom prst="rect">
            <a:avLst/>
          </a:prstGeom>
          <a:solidFill>
            <a:srgbClr val="1565C0"/>
          </a:solidFill>
          <a:ln cap="flat" cmpd="sng" w="12700">
            <a:solidFill>
              <a:srgbClr val="1565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3" name="Google Shape;493;p20"/>
          <p:cNvSpPr/>
          <p:nvPr/>
        </p:nvSpPr>
        <p:spPr>
          <a:xfrm>
            <a:off x="320040" y="914400"/>
            <a:ext cx="5486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Spawn a Row of Parts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4" name="Google Shape;494;p20"/>
          <p:cNvSpPr/>
          <p:nvPr/>
        </p:nvSpPr>
        <p:spPr>
          <a:xfrm>
            <a:off x="228600" y="1371600"/>
            <a:ext cx="5669280" cy="246888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12700">
              <a:srgbClr val="000000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5" name="Google Shape;495;p20"/>
          <p:cNvSpPr/>
          <p:nvPr/>
        </p:nvSpPr>
        <p:spPr>
          <a:xfrm>
            <a:off x="347472" y="1508760"/>
            <a:ext cx="274320" cy="274320"/>
          </a:xfrm>
          <a:prstGeom prst="rect">
            <a:avLst/>
          </a:prstGeom>
          <a:solidFill>
            <a:srgbClr val="1565C0"/>
          </a:solidFill>
          <a:ln cap="flat" cmpd="sng" w="12700">
            <a:solidFill>
              <a:srgbClr val="1565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20"/>
          <p:cNvSpPr/>
          <p:nvPr/>
        </p:nvSpPr>
        <p:spPr>
          <a:xfrm>
            <a:off x="347472" y="1508760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7" name="Google Shape;497;p20"/>
          <p:cNvSpPr/>
          <p:nvPr/>
        </p:nvSpPr>
        <p:spPr>
          <a:xfrm>
            <a:off x="713232" y="1463040"/>
            <a:ext cx="50749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Use a for loop to spawn 10 parts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8" name="Google Shape;498;p20"/>
          <p:cNvSpPr/>
          <p:nvPr/>
        </p:nvSpPr>
        <p:spPr>
          <a:xfrm>
            <a:off x="347472" y="1956816"/>
            <a:ext cx="274320" cy="274320"/>
          </a:xfrm>
          <a:prstGeom prst="rect">
            <a:avLst/>
          </a:prstGeom>
          <a:solidFill>
            <a:srgbClr val="1565C0"/>
          </a:solidFill>
          <a:ln cap="flat" cmpd="sng" w="12700">
            <a:solidFill>
              <a:srgbClr val="1565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9" name="Google Shape;499;p20"/>
          <p:cNvSpPr/>
          <p:nvPr/>
        </p:nvSpPr>
        <p:spPr>
          <a:xfrm>
            <a:off x="347472" y="1956816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0" name="Google Shape;500;p20"/>
          <p:cNvSpPr/>
          <p:nvPr/>
        </p:nvSpPr>
        <p:spPr>
          <a:xfrm>
            <a:off x="713232" y="1911096"/>
            <a:ext cx="50749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Set Position to Vector3.new(i * 5, 3, 0)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1" name="Google Shape;501;p20"/>
          <p:cNvSpPr/>
          <p:nvPr/>
        </p:nvSpPr>
        <p:spPr>
          <a:xfrm>
            <a:off x="347472" y="2404872"/>
            <a:ext cx="274320" cy="274320"/>
          </a:xfrm>
          <a:prstGeom prst="rect">
            <a:avLst/>
          </a:prstGeom>
          <a:solidFill>
            <a:srgbClr val="1565C0"/>
          </a:solidFill>
          <a:ln cap="flat" cmpd="sng" w="12700">
            <a:solidFill>
              <a:srgbClr val="1565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2" name="Google Shape;502;p20"/>
          <p:cNvSpPr/>
          <p:nvPr/>
        </p:nvSpPr>
        <p:spPr>
          <a:xfrm>
            <a:off x="347472" y="2404872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3" name="Google Shape;503;p20"/>
          <p:cNvSpPr/>
          <p:nvPr/>
        </p:nvSpPr>
        <p:spPr>
          <a:xfrm>
            <a:off x="713232" y="2359152"/>
            <a:ext cx="50749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Give each part BrickColor.Random()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4" name="Google Shape;504;p20"/>
          <p:cNvSpPr/>
          <p:nvPr/>
        </p:nvSpPr>
        <p:spPr>
          <a:xfrm>
            <a:off x="347472" y="2852928"/>
            <a:ext cx="274320" cy="274320"/>
          </a:xfrm>
          <a:prstGeom prst="rect">
            <a:avLst/>
          </a:prstGeom>
          <a:solidFill>
            <a:srgbClr val="1565C0"/>
          </a:solidFill>
          <a:ln cap="flat" cmpd="sng" w="12700">
            <a:solidFill>
              <a:srgbClr val="1565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5" name="Google Shape;505;p20"/>
          <p:cNvSpPr/>
          <p:nvPr/>
        </p:nvSpPr>
        <p:spPr>
          <a:xfrm>
            <a:off x="347472" y="2852928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6" name="Google Shape;506;p20"/>
          <p:cNvSpPr/>
          <p:nvPr/>
        </p:nvSpPr>
        <p:spPr>
          <a:xfrm>
            <a:off x="713232" y="2807208"/>
            <a:ext cx="50749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Write a countdown from 10 with task.wait(1)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7" name="Google Shape;507;p20"/>
          <p:cNvSpPr/>
          <p:nvPr/>
        </p:nvSpPr>
        <p:spPr>
          <a:xfrm>
            <a:off x="347472" y="3300984"/>
            <a:ext cx="274320" cy="274320"/>
          </a:xfrm>
          <a:prstGeom prst="rect">
            <a:avLst/>
          </a:prstGeom>
          <a:solidFill>
            <a:srgbClr val="1565C0"/>
          </a:solidFill>
          <a:ln cap="flat" cmpd="sng" w="12700">
            <a:solidFill>
              <a:srgbClr val="1565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8" name="Google Shape;508;p20"/>
          <p:cNvSpPr/>
          <p:nvPr/>
        </p:nvSpPr>
        <p:spPr>
          <a:xfrm>
            <a:off x="347472" y="3300984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9" name="Google Shape;509;p20"/>
          <p:cNvSpPr/>
          <p:nvPr/>
        </p:nvSpPr>
        <p:spPr>
          <a:xfrm>
            <a:off x="713232" y="3255264"/>
            <a:ext cx="50749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Bonus: spawn parts in a circle using math.cos/sin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0" name="Google Shape;510;p20"/>
          <p:cNvSpPr/>
          <p:nvPr/>
        </p:nvSpPr>
        <p:spPr>
          <a:xfrm>
            <a:off x="228600" y="3931920"/>
            <a:ext cx="5669280" cy="777240"/>
          </a:xfrm>
          <a:prstGeom prst="rect">
            <a:avLst/>
          </a:prstGeom>
          <a:solidFill>
            <a:srgbClr val="1B2A3B"/>
          </a:solidFill>
          <a:ln cap="flat" cmpd="sng" w="12700">
            <a:solidFill>
              <a:srgbClr val="1B2A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1" name="Google Shape;511;p20"/>
          <p:cNvSpPr/>
          <p:nvPr/>
        </p:nvSpPr>
        <p:spPr>
          <a:xfrm>
            <a:off x="411480" y="3931920"/>
            <a:ext cx="54864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CD4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rgbClr val="00BCD4"/>
                </a:solidFill>
                <a:latin typeface="Calibri"/>
                <a:ea typeface="Calibri"/>
                <a:cs typeface="Calibri"/>
                <a:sym typeface="Calibri"/>
              </a:rPr>
              <a:t>Instance.new("Part") · part.Parent = workspace · BrickColor.Random()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2" name="Google Shape;512;p20"/>
          <p:cNvSpPr/>
          <p:nvPr/>
        </p:nvSpPr>
        <p:spPr>
          <a:xfrm>
            <a:off x="6035040" y="914400"/>
            <a:ext cx="2880360" cy="379476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12700">
              <a:srgbClr val="000000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3" name="Google Shape;513;p20"/>
          <p:cNvSpPr/>
          <p:nvPr/>
        </p:nvSpPr>
        <p:spPr>
          <a:xfrm>
            <a:off x="6035040" y="914400"/>
            <a:ext cx="2880360" cy="457200"/>
          </a:xfrm>
          <a:prstGeom prst="rect">
            <a:avLst/>
          </a:prstGeom>
          <a:solidFill>
            <a:srgbClr val="1B2A3B"/>
          </a:solidFill>
          <a:ln cap="flat" cmpd="sng" w="12700">
            <a:solidFill>
              <a:srgbClr val="1B2A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4" name="Google Shape;514;p20"/>
          <p:cNvSpPr/>
          <p:nvPr/>
        </p:nvSpPr>
        <p:spPr>
          <a:xfrm>
            <a:off x="6126480" y="914400"/>
            <a:ext cx="2743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565C0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565C0"/>
                </a:solidFill>
                <a:latin typeface="Calibri"/>
                <a:ea typeface="Calibri"/>
                <a:cs typeface="Calibri"/>
                <a:sym typeface="Calibri"/>
              </a:rPr>
              <a:t>SKILLS UNLOCKED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5" name="Google Shape;515;p20"/>
          <p:cNvSpPr/>
          <p:nvPr/>
        </p:nvSpPr>
        <p:spPr>
          <a:xfrm>
            <a:off x="6126480" y="1463040"/>
            <a:ext cx="2697480" cy="3108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for loops · while loops · task.wait · Instance.new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6" name="Google Shape;516;p20"/>
          <p:cNvSpPr/>
          <p:nvPr/>
        </p:nvSpPr>
        <p:spPr>
          <a:xfrm>
            <a:off x="182880" y="4846320"/>
            <a:ext cx="87782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JS Bros Lab · Lesson 06 · Activity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1B2A"/>
        </a:solidFill>
      </p:bgPr>
    </p:bg>
    <p:spTree>
      <p:nvGrpSpPr>
        <p:cNvPr id="52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Google Shape;522;p21"/>
          <p:cNvSpPr/>
          <p:nvPr/>
        </p:nvSpPr>
        <p:spPr>
          <a:xfrm>
            <a:off x="0" y="0"/>
            <a:ext cx="457200" cy="5143500"/>
          </a:xfrm>
          <a:prstGeom prst="rect">
            <a:avLst/>
          </a:prstGeom>
          <a:solidFill>
            <a:srgbClr val="06D6A0"/>
          </a:solidFill>
          <a:ln cap="flat" cmpd="sng" w="12700">
            <a:solidFill>
              <a:srgbClr val="06D6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3" name="Google Shape;523;p21"/>
          <p:cNvSpPr/>
          <p:nvPr/>
        </p:nvSpPr>
        <p:spPr>
          <a:xfrm>
            <a:off x="640080" y="457200"/>
            <a:ext cx="320040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D6A0"/>
              </a:buClr>
              <a:buSzPts val="13000"/>
              <a:buFont typeface="Calibri"/>
              <a:buNone/>
            </a:pPr>
            <a:r>
              <a:rPr b="1" i="0" lang="en-US" sz="13000" u="none" cap="none" strike="noStrike">
                <a:solidFill>
                  <a:srgbClr val="06D6A0"/>
                </a:solidFill>
                <a:latin typeface="Calibri"/>
                <a:ea typeface="Calibri"/>
                <a:cs typeface="Calibri"/>
                <a:sym typeface="Calibri"/>
              </a:rPr>
              <a:t>07</a:t>
            </a:r>
            <a:endParaRPr b="0" i="0" sz="1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4" name="Google Shape;524;p21"/>
          <p:cNvSpPr/>
          <p:nvPr/>
        </p:nvSpPr>
        <p:spPr>
          <a:xfrm>
            <a:off x="640080" y="502920"/>
            <a:ext cx="2743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D6A0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6D6A0"/>
                </a:solidFill>
                <a:latin typeface="Calibri"/>
                <a:ea typeface="Calibri"/>
                <a:cs typeface="Calibri"/>
                <a:sym typeface="Calibri"/>
              </a:rPr>
              <a:t>LESSON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5" name="Google Shape;525;p21"/>
          <p:cNvSpPr/>
          <p:nvPr/>
        </p:nvSpPr>
        <p:spPr>
          <a:xfrm>
            <a:off x="640080" y="2651760"/>
            <a:ext cx="804672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800"/>
              <a:buFont typeface="Calibri"/>
              <a:buNone/>
            </a:pPr>
            <a:r>
              <a:rPr b="1" i="0" lang="en-US" sz="3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Functions</a:t>
            </a:r>
            <a:endParaRPr b="0" i="0" sz="3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6" name="Google Shape;526;p21"/>
          <p:cNvSpPr/>
          <p:nvPr/>
        </p:nvSpPr>
        <p:spPr>
          <a:xfrm>
            <a:off x="640080" y="3703320"/>
            <a:ext cx="77724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800"/>
              <a:buFont typeface="Calibri"/>
              <a:buNone/>
            </a:pPr>
            <a:r>
              <a:rPr b="0" i="0" lang="en-US" sz="18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Write once, use anywhere — keeping code clean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7" name="Google Shape;527;p21"/>
          <p:cNvSpPr/>
          <p:nvPr/>
        </p:nvSpPr>
        <p:spPr>
          <a:xfrm>
            <a:off x="7132320" y="274320"/>
            <a:ext cx="1737360" cy="384048"/>
          </a:xfrm>
          <a:prstGeom prst="roundRect">
            <a:avLst>
              <a:gd fmla="val 14286" name="adj"/>
            </a:avLst>
          </a:prstGeom>
          <a:solidFill>
            <a:srgbClr val="06D6A0"/>
          </a:solidFill>
          <a:ln cap="flat" cmpd="sng" w="12700">
            <a:solidFill>
              <a:srgbClr val="06D6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8" name="Google Shape;528;p21"/>
          <p:cNvSpPr/>
          <p:nvPr/>
        </p:nvSpPr>
        <p:spPr>
          <a:xfrm>
            <a:off x="7132320" y="274320"/>
            <a:ext cx="17373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⏱ 60 min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9" name="Google Shape;529;p21"/>
          <p:cNvSpPr/>
          <p:nvPr/>
        </p:nvSpPr>
        <p:spPr>
          <a:xfrm>
            <a:off x="182880" y="4846320"/>
            <a:ext cx="87782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JS Bros Lab · Lesson 07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7FB"/>
        </a:solidFill>
      </p:bgPr>
    </p:bg>
    <p:spTree>
      <p:nvGrpSpPr>
        <p:cNvPr id="534" name="Shape 5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p2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6D6A0"/>
          </a:solidFill>
          <a:ln cap="flat" cmpd="sng" w="12700">
            <a:solidFill>
              <a:srgbClr val="06D6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6" name="Google Shape;536;p22"/>
          <p:cNvSpPr/>
          <p:nvPr/>
        </p:nvSpPr>
        <p:spPr>
          <a:xfrm>
            <a:off x="502920" y="365760"/>
            <a:ext cx="1005840" cy="438912"/>
          </a:xfrm>
          <a:prstGeom prst="roundRect">
            <a:avLst>
              <a:gd fmla="val 16667" name="adj"/>
            </a:avLst>
          </a:prstGeom>
          <a:solidFill>
            <a:srgbClr val="06D6A0"/>
          </a:solidFill>
          <a:ln cap="flat" cmpd="sng" w="12700">
            <a:solidFill>
              <a:srgbClr val="06D6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7" name="Google Shape;537;p22"/>
          <p:cNvSpPr/>
          <p:nvPr/>
        </p:nvSpPr>
        <p:spPr>
          <a:xfrm>
            <a:off x="502920" y="365760"/>
            <a:ext cx="100584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07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8" name="Google Shape;538;p22"/>
          <p:cNvSpPr/>
          <p:nvPr/>
        </p:nvSpPr>
        <p:spPr>
          <a:xfrm>
            <a:off x="1691640" y="320040"/>
            <a:ext cx="72237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Key Concepts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9" name="Google Shape;539;p22"/>
          <p:cNvSpPr/>
          <p:nvPr/>
        </p:nvSpPr>
        <p:spPr>
          <a:xfrm>
            <a:off x="228600" y="914400"/>
            <a:ext cx="8686800" cy="384048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8100000" dist="25400">
              <a:srgbClr val="000000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0" name="Google Shape;540;p22"/>
          <p:cNvSpPr/>
          <p:nvPr/>
        </p:nvSpPr>
        <p:spPr>
          <a:xfrm>
            <a:off x="411480" y="1051560"/>
            <a:ext cx="347472" cy="347472"/>
          </a:xfrm>
          <a:prstGeom prst="ellipse">
            <a:avLst/>
          </a:prstGeom>
          <a:solidFill>
            <a:srgbClr val="06D6A0"/>
          </a:solidFill>
          <a:ln cap="flat" cmpd="sng" w="12700">
            <a:solidFill>
              <a:srgbClr val="06D6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1" name="Google Shape;541;p22"/>
          <p:cNvSpPr/>
          <p:nvPr/>
        </p:nvSpPr>
        <p:spPr>
          <a:xfrm>
            <a:off x="411480" y="105156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2" name="Google Shape;542;p22"/>
          <p:cNvSpPr/>
          <p:nvPr/>
        </p:nvSpPr>
        <p:spPr>
          <a:xfrm>
            <a:off x="868680" y="1005840"/>
            <a:ext cx="78638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600"/>
              <a:buFont typeface="Courier New"/>
              <a:buNone/>
            </a:pPr>
            <a:r>
              <a:rPr b="0" i="0" lang="en-US" sz="1600" u="none" cap="none" strike="noStrike">
                <a:solidFill>
                  <a:srgbClr val="0D1B2A"/>
                </a:solidFill>
                <a:latin typeface="Courier New"/>
                <a:ea typeface="Courier New"/>
                <a:cs typeface="Courier New"/>
                <a:sym typeface="Courier New"/>
              </a:rPr>
              <a:t>local function greet() ... end  — define it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3" name="Google Shape;543;p22"/>
          <p:cNvSpPr/>
          <p:nvPr/>
        </p:nvSpPr>
        <p:spPr>
          <a:xfrm>
            <a:off x="411480" y="1719072"/>
            <a:ext cx="347472" cy="347472"/>
          </a:xfrm>
          <a:prstGeom prst="ellipse">
            <a:avLst/>
          </a:prstGeom>
          <a:solidFill>
            <a:srgbClr val="06D6A0"/>
          </a:solidFill>
          <a:ln cap="flat" cmpd="sng" w="12700">
            <a:solidFill>
              <a:srgbClr val="06D6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4" name="Google Shape;544;p22"/>
          <p:cNvSpPr/>
          <p:nvPr/>
        </p:nvSpPr>
        <p:spPr>
          <a:xfrm>
            <a:off x="411480" y="1719072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5" name="Google Shape;545;p22"/>
          <p:cNvSpPr/>
          <p:nvPr/>
        </p:nvSpPr>
        <p:spPr>
          <a:xfrm>
            <a:off x="868680" y="1673352"/>
            <a:ext cx="78638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600"/>
              <a:buFont typeface="Courier New"/>
              <a:buNone/>
            </a:pPr>
            <a:r>
              <a:rPr b="0" i="0" lang="en-US" sz="1600" u="none" cap="none" strike="noStrike">
                <a:solidFill>
                  <a:srgbClr val="0D1B2A"/>
                </a:solidFill>
                <a:latin typeface="Courier New"/>
                <a:ea typeface="Courier New"/>
                <a:cs typeface="Courier New"/>
                <a:sym typeface="Courier New"/>
              </a:rPr>
              <a:t>greet()  — call it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6" name="Google Shape;546;p22"/>
          <p:cNvSpPr/>
          <p:nvPr/>
        </p:nvSpPr>
        <p:spPr>
          <a:xfrm>
            <a:off x="411480" y="2386584"/>
            <a:ext cx="347472" cy="347472"/>
          </a:xfrm>
          <a:prstGeom prst="ellipse">
            <a:avLst/>
          </a:prstGeom>
          <a:solidFill>
            <a:srgbClr val="06D6A0"/>
          </a:solidFill>
          <a:ln cap="flat" cmpd="sng" w="12700">
            <a:solidFill>
              <a:srgbClr val="06D6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7" name="Google Shape;547;p22"/>
          <p:cNvSpPr/>
          <p:nvPr/>
        </p:nvSpPr>
        <p:spPr>
          <a:xfrm>
            <a:off x="411480" y="2386584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8" name="Google Shape;548;p22"/>
          <p:cNvSpPr/>
          <p:nvPr/>
        </p:nvSpPr>
        <p:spPr>
          <a:xfrm>
            <a:off x="868680" y="2340864"/>
            <a:ext cx="78638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600"/>
              <a:buFont typeface="Courier New"/>
              <a:buNone/>
            </a:pPr>
            <a:r>
              <a:rPr b="0" i="0" lang="en-US" sz="1600" u="none" cap="none" strike="noStrike">
                <a:solidFill>
                  <a:srgbClr val="0D1B2A"/>
                </a:solidFill>
                <a:latin typeface="Courier New"/>
                <a:ea typeface="Courier New"/>
                <a:cs typeface="Courier New"/>
                <a:sym typeface="Courier New"/>
              </a:rPr>
              <a:t>Parameters: function greet(name, score) ... end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9" name="Google Shape;549;p22"/>
          <p:cNvSpPr/>
          <p:nvPr/>
        </p:nvSpPr>
        <p:spPr>
          <a:xfrm>
            <a:off x="411480" y="3054096"/>
            <a:ext cx="347472" cy="347472"/>
          </a:xfrm>
          <a:prstGeom prst="ellipse">
            <a:avLst/>
          </a:prstGeom>
          <a:solidFill>
            <a:srgbClr val="06D6A0"/>
          </a:solidFill>
          <a:ln cap="flat" cmpd="sng" w="12700">
            <a:solidFill>
              <a:srgbClr val="06D6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0" name="Google Shape;550;p22"/>
          <p:cNvSpPr/>
          <p:nvPr/>
        </p:nvSpPr>
        <p:spPr>
          <a:xfrm>
            <a:off x="411480" y="3054096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1" name="Google Shape;551;p22"/>
          <p:cNvSpPr/>
          <p:nvPr/>
        </p:nvSpPr>
        <p:spPr>
          <a:xfrm>
            <a:off x="868680" y="3008376"/>
            <a:ext cx="78638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600"/>
              <a:buFont typeface="Courier New"/>
              <a:buNone/>
            </a:pPr>
            <a:r>
              <a:rPr b="0" i="0" lang="en-US" sz="1600" u="none" cap="none" strike="noStrike">
                <a:solidFill>
                  <a:srgbClr val="0D1B2A"/>
                </a:solidFill>
                <a:latin typeface="Courier New"/>
                <a:ea typeface="Courier New"/>
                <a:cs typeface="Courier New"/>
                <a:sym typeface="Courier New"/>
              </a:rPr>
              <a:t>Return values: return current + bonus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2" name="Google Shape;552;p22"/>
          <p:cNvSpPr/>
          <p:nvPr/>
        </p:nvSpPr>
        <p:spPr>
          <a:xfrm>
            <a:off x="411480" y="3721608"/>
            <a:ext cx="347472" cy="347472"/>
          </a:xfrm>
          <a:prstGeom prst="ellipse">
            <a:avLst/>
          </a:prstGeom>
          <a:solidFill>
            <a:srgbClr val="06D6A0"/>
          </a:solidFill>
          <a:ln cap="flat" cmpd="sng" w="12700">
            <a:solidFill>
              <a:srgbClr val="06D6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3" name="Google Shape;553;p22"/>
          <p:cNvSpPr/>
          <p:nvPr/>
        </p:nvSpPr>
        <p:spPr>
          <a:xfrm>
            <a:off x="411480" y="3721608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4" name="Google Shape;554;p22"/>
          <p:cNvSpPr/>
          <p:nvPr/>
        </p:nvSpPr>
        <p:spPr>
          <a:xfrm>
            <a:off x="868680" y="3675888"/>
            <a:ext cx="78638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600"/>
              <a:buFont typeface="Courier New"/>
              <a:buNone/>
            </a:pPr>
            <a:r>
              <a:rPr b="0" i="0" lang="en-US" sz="1600" u="none" cap="none" strike="noStrike">
                <a:solidFill>
                  <a:srgbClr val="0D1B2A"/>
                </a:solidFill>
                <a:latin typeface="Courier New"/>
                <a:ea typeface="Courier New"/>
                <a:cs typeface="Courier New"/>
                <a:sym typeface="Courier New"/>
              </a:rPr>
              <a:t>Default params: color = color or BrickColor.Random()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5" name="Google Shape;555;p22"/>
          <p:cNvSpPr/>
          <p:nvPr/>
        </p:nvSpPr>
        <p:spPr>
          <a:xfrm>
            <a:off x="182880" y="4846320"/>
            <a:ext cx="87782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JS Bros Lab · Lesson 07 · Key Concepts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7FB"/>
        </a:solidFill>
      </p:bgPr>
    </p:bg>
    <p:spTree>
      <p:nvGrpSpPr>
        <p:cNvPr id="560" name="Shape 5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" name="Google Shape;561;p23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6D6A0"/>
          </a:solidFill>
          <a:ln cap="flat" cmpd="sng" w="12700">
            <a:solidFill>
              <a:srgbClr val="06D6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2" name="Google Shape;562;p23"/>
          <p:cNvSpPr/>
          <p:nvPr/>
        </p:nvSpPr>
        <p:spPr>
          <a:xfrm>
            <a:off x="502920" y="365760"/>
            <a:ext cx="1005840" cy="438912"/>
          </a:xfrm>
          <a:prstGeom prst="roundRect">
            <a:avLst>
              <a:gd fmla="val 16667" name="adj"/>
            </a:avLst>
          </a:prstGeom>
          <a:solidFill>
            <a:srgbClr val="06D6A0"/>
          </a:solidFill>
          <a:ln cap="flat" cmpd="sng" w="12700">
            <a:solidFill>
              <a:srgbClr val="06D6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3" name="Google Shape;563;p23"/>
          <p:cNvSpPr/>
          <p:nvPr/>
        </p:nvSpPr>
        <p:spPr>
          <a:xfrm>
            <a:off x="502920" y="365760"/>
            <a:ext cx="100584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07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4" name="Google Shape;564;p23"/>
          <p:cNvSpPr/>
          <p:nvPr/>
        </p:nvSpPr>
        <p:spPr>
          <a:xfrm>
            <a:off x="1691640" y="320040"/>
            <a:ext cx="72237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Try It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5" name="Google Shape;565;p23"/>
          <p:cNvSpPr/>
          <p:nvPr/>
        </p:nvSpPr>
        <p:spPr>
          <a:xfrm>
            <a:off x="228600" y="914400"/>
            <a:ext cx="5669280" cy="457200"/>
          </a:xfrm>
          <a:prstGeom prst="rect">
            <a:avLst/>
          </a:prstGeom>
          <a:solidFill>
            <a:srgbClr val="06D6A0"/>
          </a:solidFill>
          <a:ln cap="flat" cmpd="sng" w="12700">
            <a:solidFill>
              <a:srgbClr val="06D6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6" name="Google Shape;566;p23"/>
          <p:cNvSpPr/>
          <p:nvPr/>
        </p:nvSpPr>
        <p:spPr>
          <a:xfrm>
            <a:off x="320040" y="914400"/>
            <a:ext cx="5486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Refactor Challenge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7" name="Google Shape;567;p23"/>
          <p:cNvSpPr/>
          <p:nvPr/>
        </p:nvSpPr>
        <p:spPr>
          <a:xfrm>
            <a:off x="228600" y="1371600"/>
            <a:ext cx="5669280" cy="246888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12700">
              <a:srgbClr val="000000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8" name="Google Shape;568;p23"/>
          <p:cNvSpPr/>
          <p:nvPr/>
        </p:nvSpPr>
        <p:spPr>
          <a:xfrm>
            <a:off x="347472" y="1508760"/>
            <a:ext cx="274320" cy="274320"/>
          </a:xfrm>
          <a:prstGeom prst="rect">
            <a:avLst/>
          </a:prstGeom>
          <a:solidFill>
            <a:srgbClr val="06D6A0"/>
          </a:solidFill>
          <a:ln cap="flat" cmpd="sng" w="12700">
            <a:solidFill>
              <a:srgbClr val="06D6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9" name="Google Shape;569;p23"/>
          <p:cNvSpPr/>
          <p:nvPr/>
        </p:nvSpPr>
        <p:spPr>
          <a:xfrm>
            <a:off x="347472" y="1508760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0" name="Google Shape;570;p23"/>
          <p:cNvSpPr/>
          <p:nvPr/>
        </p:nvSpPr>
        <p:spPr>
          <a:xfrm>
            <a:off x="713232" y="1463040"/>
            <a:ext cx="50749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Write greetPlayer(name, score) and call it 3 times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1" name="Google Shape;571;p23"/>
          <p:cNvSpPr/>
          <p:nvPr/>
        </p:nvSpPr>
        <p:spPr>
          <a:xfrm>
            <a:off x="347472" y="1956816"/>
            <a:ext cx="274320" cy="274320"/>
          </a:xfrm>
          <a:prstGeom prst="rect">
            <a:avLst/>
          </a:prstGeom>
          <a:solidFill>
            <a:srgbClr val="06D6A0"/>
          </a:solidFill>
          <a:ln cap="flat" cmpd="sng" w="12700">
            <a:solidFill>
              <a:srgbClr val="06D6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2" name="Google Shape;572;p23"/>
          <p:cNvSpPr/>
          <p:nvPr/>
        </p:nvSpPr>
        <p:spPr>
          <a:xfrm>
            <a:off x="347472" y="1956816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3" name="Google Shape;573;p23"/>
          <p:cNvSpPr/>
          <p:nvPr/>
        </p:nvSpPr>
        <p:spPr>
          <a:xfrm>
            <a:off x="713232" y="1911096"/>
            <a:ext cx="50749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Write getRank(score) that returns Gold/Silver/Bronze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4" name="Google Shape;574;p23"/>
          <p:cNvSpPr/>
          <p:nvPr/>
        </p:nvSpPr>
        <p:spPr>
          <a:xfrm>
            <a:off x="347472" y="2404872"/>
            <a:ext cx="274320" cy="274320"/>
          </a:xfrm>
          <a:prstGeom prst="rect">
            <a:avLst/>
          </a:prstGeom>
          <a:solidFill>
            <a:srgbClr val="06D6A0"/>
          </a:solidFill>
          <a:ln cap="flat" cmpd="sng" w="12700">
            <a:solidFill>
              <a:srgbClr val="06D6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5" name="Google Shape;575;p23"/>
          <p:cNvSpPr/>
          <p:nvPr/>
        </p:nvSpPr>
        <p:spPr>
          <a:xfrm>
            <a:off x="347472" y="2404872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6" name="Google Shape;576;p23"/>
          <p:cNvSpPr/>
          <p:nvPr/>
        </p:nvSpPr>
        <p:spPr>
          <a:xfrm>
            <a:off x="713232" y="2359152"/>
            <a:ext cx="50749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Use getRank inside greetPlayer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7" name="Google Shape;577;p23"/>
          <p:cNvSpPr/>
          <p:nvPr/>
        </p:nvSpPr>
        <p:spPr>
          <a:xfrm>
            <a:off x="347472" y="2852928"/>
            <a:ext cx="274320" cy="274320"/>
          </a:xfrm>
          <a:prstGeom prst="rect">
            <a:avLst/>
          </a:prstGeom>
          <a:solidFill>
            <a:srgbClr val="06D6A0"/>
          </a:solidFill>
          <a:ln cap="flat" cmpd="sng" w="12700">
            <a:solidFill>
              <a:srgbClr val="06D6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8" name="Google Shape;578;p23"/>
          <p:cNvSpPr/>
          <p:nvPr/>
        </p:nvSpPr>
        <p:spPr>
          <a:xfrm>
            <a:off x="347472" y="2852928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9" name="Google Shape;579;p23"/>
          <p:cNvSpPr/>
          <p:nvPr/>
        </p:nvSpPr>
        <p:spPr>
          <a:xfrm>
            <a:off x="713232" y="2807208"/>
            <a:ext cx="50749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Take the messy 3-part spawn script and refactor it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0" name="Google Shape;580;p23"/>
          <p:cNvSpPr/>
          <p:nvPr/>
        </p:nvSpPr>
        <p:spPr>
          <a:xfrm>
            <a:off x="347472" y="3300984"/>
            <a:ext cx="274320" cy="274320"/>
          </a:xfrm>
          <a:prstGeom prst="rect">
            <a:avLst/>
          </a:prstGeom>
          <a:solidFill>
            <a:srgbClr val="06D6A0"/>
          </a:solidFill>
          <a:ln cap="flat" cmpd="sng" w="12700">
            <a:solidFill>
              <a:srgbClr val="06D6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1" name="Google Shape;581;p23"/>
          <p:cNvSpPr/>
          <p:nvPr/>
        </p:nvSpPr>
        <p:spPr>
          <a:xfrm>
            <a:off x="347472" y="3300984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2" name="Google Shape;582;p23"/>
          <p:cNvSpPr/>
          <p:nvPr/>
        </p:nvSpPr>
        <p:spPr>
          <a:xfrm>
            <a:off x="713232" y="3255264"/>
            <a:ext cx="50749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One function, three calls — same result, cleaner code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3" name="Google Shape;583;p23"/>
          <p:cNvSpPr/>
          <p:nvPr/>
        </p:nvSpPr>
        <p:spPr>
          <a:xfrm>
            <a:off x="228600" y="3931920"/>
            <a:ext cx="5669280" cy="777240"/>
          </a:xfrm>
          <a:prstGeom prst="rect">
            <a:avLst/>
          </a:prstGeom>
          <a:solidFill>
            <a:srgbClr val="1B2A3B"/>
          </a:solidFill>
          <a:ln cap="flat" cmpd="sng" w="12700">
            <a:solidFill>
              <a:srgbClr val="1B2A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4" name="Google Shape;584;p23"/>
          <p:cNvSpPr/>
          <p:nvPr/>
        </p:nvSpPr>
        <p:spPr>
          <a:xfrm>
            <a:off x="411480" y="3931920"/>
            <a:ext cx="54864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CD4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rgbClr val="00BCD4"/>
                </a:solidFill>
                <a:latin typeface="Calibri"/>
                <a:ea typeface="Calibri"/>
                <a:cs typeface="Calibri"/>
                <a:sym typeface="Calibri"/>
              </a:rPr>
              <a:t>"If you copy-pasted it twice, it should be a function."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5" name="Google Shape;585;p23"/>
          <p:cNvSpPr/>
          <p:nvPr/>
        </p:nvSpPr>
        <p:spPr>
          <a:xfrm>
            <a:off x="6035040" y="914400"/>
            <a:ext cx="2880360" cy="379476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12700">
              <a:srgbClr val="000000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6" name="Google Shape;586;p23"/>
          <p:cNvSpPr/>
          <p:nvPr/>
        </p:nvSpPr>
        <p:spPr>
          <a:xfrm>
            <a:off x="6035040" y="914400"/>
            <a:ext cx="2880360" cy="457200"/>
          </a:xfrm>
          <a:prstGeom prst="rect">
            <a:avLst/>
          </a:prstGeom>
          <a:solidFill>
            <a:srgbClr val="1B2A3B"/>
          </a:solidFill>
          <a:ln cap="flat" cmpd="sng" w="12700">
            <a:solidFill>
              <a:srgbClr val="1B2A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7" name="Google Shape;587;p23"/>
          <p:cNvSpPr/>
          <p:nvPr/>
        </p:nvSpPr>
        <p:spPr>
          <a:xfrm>
            <a:off x="6126480" y="914400"/>
            <a:ext cx="2743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D6A0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6D6A0"/>
                </a:solidFill>
                <a:latin typeface="Calibri"/>
                <a:ea typeface="Calibri"/>
                <a:cs typeface="Calibri"/>
                <a:sym typeface="Calibri"/>
              </a:rPr>
              <a:t>SKILLS UNLOCKED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8" name="Google Shape;588;p23"/>
          <p:cNvSpPr/>
          <p:nvPr/>
        </p:nvSpPr>
        <p:spPr>
          <a:xfrm>
            <a:off x="6126480" y="1463040"/>
            <a:ext cx="2697480" cy="3108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Named functions · Parameters · Return values · Refactoring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9" name="Google Shape;589;p23"/>
          <p:cNvSpPr/>
          <p:nvPr/>
        </p:nvSpPr>
        <p:spPr>
          <a:xfrm>
            <a:off x="182880" y="4846320"/>
            <a:ext cx="87782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JS Bros Lab · Lesson 07 · Activity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1B2A"/>
        </a:solidFill>
      </p:bgPr>
    </p:bg>
    <p:spTree>
      <p:nvGrpSpPr>
        <p:cNvPr id="594" name="Shape 5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Google Shape;595;p24"/>
          <p:cNvSpPr/>
          <p:nvPr/>
        </p:nvSpPr>
        <p:spPr>
          <a:xfrm>
            <a:off x="0" y="0"/>
            <a:ext cx="457200" cy="5143500"/>
          </a:xfrm>
          <a:prstGeom prst="rect">
            <a:avLst/>
          </a:prstGeom>
          <a:solidFill>
            <a:srgbClr val="FFD166"/>
          </a:solidFill>
          <a:ln cap="flat" cmpd="sng" w="12700">
            <a:solidFill>
              <a:srgbClr val="FFD1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6" name="Google Shape;596;p24"/>
          <p:cNvSpPr/>
          <p:nvPr/>
        </p:nvSpPr>
        <p:spPr>
          <a:xfrm>
            <a:off x="640080" y="457200"/>
            <a:ext cx="320040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166"/>
              </a:buClr>
              <a:buSzPts val="13000"/>
              <a:buFont typeface="Calibri"/>
              <a:buNone/>
            </a:pPr>
            <a:r>
              <a:rPr b="1" i="0" lang="en-US" sz="13000" u="none" cap="none" strike="noStrike">
                <a:solidFill>
                  <a:srgbClr val="FFD166"/>
                </a:solidFill>
                <a:latin typeface="Calibri"/>
                <a:ea typeface="Calibri"/>
                <a:cs typeface="Calibri"/>
                <a:sym typeface="Calibri"/>
              </a:rPr>
              <a:t>08</a:t>
            </a:r>
            <a:endParaRPr b="0" i="0" sz="1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7" name="Google Shape;597;p24"/>
          <p:cNvSpPr/>
          <p:nvPr/>
        </p:nvSpPr>
        <p:spPr>
          <a:xfrm>
            <a:off x="640080" y="502920"/>
            <a:ext cx="2743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166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D166"/>
                </a:solidFill>
                <a:latin typeface="Calibri"/>
                <a:ea typeface="Calibri"/>
                <a:cs typeface="Calibri"/>
                <a:sym typeface="Calibri"/>
              </a:rPr>
              <a:t>LESSON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8" name="Google Shape;598;p24"/>
          <p:cNvSpPr/>
          <p:nvPr/>
        </p:nvSpPr>
        <p:spPr>
          <a:xfrm>
            <a:off x="640080" y="2651760"/>
            <a:ext cx="804672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800"/>
              <a:buFont typeface="Calibri"/>
              <a:buNone/>
            </a:pPr>
            <a:r>
              <a:rPr b="1" i="0" lang="en-US" sz="3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Tables &amp; Lists</a:t>
            </a:r>
            <a:endParaRPr b="0" i="0" sz="3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9" name="Google Shape;599;p24"/>
          <p:cNvSpPr/>
          <p:nvPr/>
        </p:nvSpPr>
        <p:spPr>
          <a:xfrm>
            <a:off x="640080" y="3703320"/>
            <a:ext cx="77724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800"/>
              <a:buFont typeface="Calibri"/>
              <a:buNone/>
            </a:pPr>
            <a:r>
              <a:rPr b="0" i="0" lang="en-US" sz="18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Storing collections of things in one place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0" name="Google Shape;600;p24"/>
          <p:cNvSpPr/>
          <p:nvPr/>
        </p:nvSpPr>
        <p:spPr>
          <a:xfrm>
            <a:off x="7132320" y="274320"/>
            <a:ext cx="1737360" cy="384048"/>
          </a:xfrm>
          <a:prstGeom prst="roundRect">
            <a:avLst>
              <a:gd fmla="val 14286" name="adj"/>
            </a:avLst>
          </a:prstGeom>
          <a:solidFill>
            <a:srgbClr val="FFD166"/>
          </a:solidFill>
          <a:ln cap="flat" cmpd="sng" w="12700">
            <a:solidFill>
              <a:srgbClr val="FFD1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1" name="Google Shape;601;p24"/>
          <p:cNvSpPr/>
          <p:nvPr/>
        </p:nvSpPr>
        <p:spPr>
          <a:xfrm>
            <a:off x="7132320" y="274320"/>
            <a:ext cx="17373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⏱ 60 min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2" name="Google Shape;602;p24"/>
          <p:cNvSpPr/>
          <p:nvPr/>
        </p:nvSpPr>
        <p:spPr>
          <a:xfrm>
            <a:off x="182880" y="4846320"/>
            <a:ext cx="87782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JS Bros Lab · Lesson 08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7FB"/>
        </a:solidFill>
      </p:bgPr>
    </p:bg>
    <p:spTree>
      <p:nvGrpSpPr>
        <p:cNvPr id="607" name="Shape 6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8" name="Google Shape;608;p25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FD166"/>
          </a:solidFill>
          <a:ln cap="flat" cmpd="sng" w="12700">
            <a:solidFill>
              <a:srgbClr val="FFD1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9" name="Google Shape;609;p25"/>
          <p:cNvSpPr/>
          <p:nvPr/>
        </p:nvSpPr>
        <p:spPr>
          <a:xfrm>
            <a:off x="502920" y="365760"/>
            <a:ext cx="1005840" cy="438912"/>
          </a:xfrm>
          <a:prstGeom prst="roundRect">
            <a:avLst>
              <a:gd fmla="val 16667" name="adj"/>
            </a:avLst>
          </a:prstGeom>
          <a:solidFill>
            <a:srgbClr val="FFD166"/>
          </a:solidFill>
          <a:ln cap="flat" cmpd="sng" w="12700">
            <a:solidFill>
              <a:srgbClr val="FFD1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0" name="Google Shape;610;p25"/>
          <p:cNvSpPr/>
          <p:nvPr/>
        </p:nvSpPr>
        <p:spPr>
          <a:xfrm>
            <a:off x="502920" y="365760"/>
            <a:ext cx="100584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08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1" name="Google Shape;611;p25"/>
          <p:cNvSpPr/>
          <p:nvPr/>
        </p:nvSpPr>
        <p:spPr>
          <a:xfrm>
            <a:off x="1691640" y="320040"/>
            <a:ext cx="72237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Key Concepts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2" name="Google Shape;612;p25"/>
          <p:cNvSpPr/>
          <p:nvPr/>
        </p:nvSpPr>
        <p:spPr>
          <a:xfrm>
            <a:off x="228600" y="914400"/>
            <a:ext cx="8686800" cy="384048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8100000" dist="25400">
              <a:srgbClr val="000000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3" name="Google Shape;613;p25"/>
          <p:cNvSpPr/>
          <p:nvPr/>
        </p:nvSpPr>
        <p:spPr>
          <a:xfrm>
            <a:off x="411480" y="1051560"/>
            <a:ext cx="347472" cy="347472"/>
          </a:xfrm>
          <a:prstGeom prst="ellipse">
            <a:avLst/>
          </a:prstGeom>
          <a:solidFill>
            <a:srgbClr val="FFD166"/>
          </a:solidFill>
          <a:ln cap="flat" cmpd="sng" w="12700">
            <a:solidFill>
              <a:srgbClr val="FFD1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4" name="Google Shape;614;p25"/>
          <p:cNvSpPr/>
          <p:nvPr/>
        </p:nvSpPr>
        <p:spPr>
          <a:xfrm>
            <a:off x="411480" y="105156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5" name="Google Shape;615;p25"/>
          <p:cNvSpPr/>
          <p:nvPr/>
        </p:nvSpPr>
        <p:spPr>
          <a:xfrm>
            <a:off x="868680" y="1005840"/>
            <a:ext cx="78638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600"/>
              <a:buFont typeface="Courier New"/>
              <a:buNone/>
            </a:pPr>
            <a:r>
              <a:rPr b="0" i="0" lang="en-US" sz="1600" u="none" cap="none" strike="noStrike">
                <a:solidFill>
                  <a:srgbClr val="0D1B2A"/>
                </a:solidFill>
                <a:latin typeface="Courier New"/>
                <a:ea typeface="Courier New"/>
                <a:cs typeface="Courier New"/>
                <a:sym typeface="Courier New"/>
              </a:rPr>
              <a:t>local items = {"sword", "shield", "coin"}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6" name="Google Shape;616;p25"/>
          <p:cNvSpPr/>
          <p:nvPr/>
        </p:nvSpPr>
        <p:spPr>
          <a:xfrm>
            <a:off x="411480" y="1719072"/>
            <a:ext cx="347472" cy="347472"/>
          </a:xfrm>
          <a:prstGeom prst="ellipse">
            <a:avLst/>
          </a:prstGeom>
          <a:solidFill>
            <a:srgbClr val="FFD166"/>
          </a:solidFill>
          <a:ln cap="flat" cmpd="sng" w="12700">
            <a:solidFill>
              <a:srgbClr val="FFD1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7" name="Google Shape;617;p25"/>
          <p:cNvSpPr/>
          <p:nvPr/>
        </p:nvSpPr>
        <p:spPr>
          <a:xfrm>
            <a:off x="411480" y="1719072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8" name="Google Shape;618;p25"/>
          <p:cNvSpPr/>
          <p:nvPr/>
        </p:nvSpPr>
        <p:spPr>
          <a:xfrm>
            <a:off x="868680" y="1673352"/>
            <a:ext cx="78638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600"/>
              <a:buFont typeface="Courier New"/>
              <a:buNone/>
            </a:pPr>
            <a:r>
              <a:rPr b="0" i="0" lang="en-US" sz="1600" u="none" cap="none" strike="noStrike">
                <a:solidFill>
                  <a:srgbClr val="0D1B2A"/>
                </a:solidFill>
                <a:latin typeface="Courier New"/>
                <a:ea typeface="Courier New"/>
                <a:cs typeface="Courier New"/>
                <a:sym typeface="Courier New"/>
              </a:rPr>
              <a:t>items[1]  — access by position (starts at 1)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9" name="Google Shape;619;p25"/>
          <p:cNvSpPr/>
          <p:nvPr/>
        </p:nvSpPr>
        <p:spPr>
          <a:xfrm>
            <a:off x="411480" y="2386584"/>
            <a:ext cx="347472" cy="347472"/>
          </a:xfrm>
          <a:prstGeom prst="ellipse">
            <a:avLst/>
          </a:prstGeom>
          <a:solidFill>
            <a:srgbClr val="FFD166"/>
          </a:solidFill>
          <a:ln cap="flat" cmpd="sng" w="12700">
            <a:solidFill>
              <a:srgbClr val="FFD1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0" name="Google Shape;620;p25"/>
          <p:cNvSpPr/>
          <p:nvPr/>
        </p:nvSpPr>
        <p:spPr>
          <a:xfrm>
            <a:off x="411480" y="2386584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1" name="Google Shape;621;p25"/>
          <p:cNvSpPr/>
          <p:nvPr/>
        </p:nvSpPr>
        <p:spPr>
          <a:xfrm>
            <a:off x="868680" y="2340864"/>
            <a:ext cx="78638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600"/>
              <a:buFont typeface="Courier New"/>
              <a:buNone/>
            </a:pPr>
            <a:r>
              <a:rPr b="0" i="0" lang="en-US" sz="1600" u="none" cap="none" strike="noStrike">
                <a:solidFill>
                  <a:srgbClr val="0D1B2A"/>
                </a:solidFill>
                <a:latin typeface="Courier New"/>
                <a:ea typeface="Courier New"/>
                <a:cs typeface="Courier New"/>
                <a:sym typeface="Courier New"/>
              </a:rPr>
              <a:t>#items  — number of items in the table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2" name="Google Shape;622;p25"/>
          <p:cNvSpPr/>
          <p:nvPr/>
        </p:nvSpPr>
        <p:spPr>
          <a:xfrm>
            <a:off x="411480" y="3054096"/>
            <a:ext cx="347472" cy="347472"/>
          </a:xfrm>
          <a:prstGeom prst="ellipse">
            <a:avLst/>
          </a:prstGeom>
          <a:solidFill>
            <a:srgbClr val="FFD166"/>
          </a:solidFill>
          <a:ln cap="flat" cmpd="sng" w="12700">
            <a:solidFill>
              <a:srgbClr val="FFD1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3" name="Google Shape;623;p25"/>
          <p:cNvSpPr/>
          <p:nvPr/>
        </p:nvSpPr>
        <p:spPr>
          <a:xfrm>
            <a:off x="411480" y="3054096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4" name="Google Shape;624;p25"/>
          <p:cNvSpPr/>
          <p:nvPr/>
        </p:nvSpPr>
        <p:spPr>
          <a:xfrm>
            <a:off x="868680" y="3008376"/>
            <a:ext cx="78638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600"/>
              <a:buFont typeface="Courier New"/>
              <a:buNone/>
            </a:pPr>
            <a:r>
              <a:rPr b="0" i="0" lang="en-US" sz="1600" u="none" cap="none" strike="noStrike">
                <a:solidFill>
                  <a:srgbClr val="0D1B2A"/>
                </a:solidFill>
                <a:latin typeface="Courier New"/>
                <a:ea typeface="Courier New"/>
                <a:cs typeface="Courier New"/>
                <a:sym typeface="Courier New"/>
              </a:rPr>
              <a:t>table.insert(items, x) · table.remove(items, i)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5" name="Google Shape;625;p25"/>
          <p:cNvSpPr/>
          <p:nvPr/>
        </p:nvSpPr>
        <p:spPr>
          <a:xfrm>
            <a:off x="411480" y="3721608"/>
            <a:ext cx="347472" cy="347472"/>
          </a:xfrm>
          <a:prstGeom prst="ellipse">
            <a:avLst/>
          </a:prstGeom>
          <a:solidFill>
            <a:srgbClr val="FFD166"/>
          </a:solidFill>
          <a:ln cap="flat" cmpd="sng" w="12700">
            <a:solidFill>
              <a:srgbClr val="FFD1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6" name="Google Shape;626;p25"/>
          <p:cNvSpPr/>
          <p:nvPr/>
        </p:nvSpPr>
        <p:spPr>
          <a:xfrm>
            <a:off x="411480" y="3721608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7" name="Google Shape;627;p25"/>
          <p:cNvSpPr/>
          <p:nvPr/>
        </p:nvSpPr>
        <p:spPr>
          <a:xfrm>
            <a:off x="868680" y="3675888"/>
            <a:ext cx="78638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600"/>
              <a:buFont typeface="Courier New"/>
              <a:buNone/>
            </a:pPr>
            <a:r>
              <a:rPr b="0" i="0" lang="en-US" sz="1600" u="none" cap="none" strike="noStrike">
                <a:solidFill>
                  <a:srgbClr val="0D1B2A"/>
                </a:solidFill>
                <a:latin typeface="Courier New"/>
                <a:ea typeface="Courier New"/>
                <a:cs typeface="Courier New"/>
                <a:sym typeface="Courier New"/>
              </a:rPr>
              <a:t>ipairs for lists · pairs for key-value tables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8" name="Google Shape;628;p25"/>
          <p:cNvSpPr/>
          <p:nvPr/>
        </p:nvSpPr>
        <p:spPr>
          <a:xfrm>
            <a:off x="182880" y="4846320"/>
            <a:ext cx="87782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JS Bros Lab · Lesson 08 · Key Concepts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7FB"/>
        </a:solidFill>
      </p:bgPr>
    </p:bg>
    <p:spTree>
      <p:nvGrpSpPr>
        <p:cNvPr id="633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26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FD166"/>
          </a:solidFill>
          <a:ln cap="flat" cmpd="sng" w="12700">
            <a:solidFill>
              <a:srgbClr val="FFD1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5" name="Google Shape;635;p26"/>
          <p:cNvSpPr/>
          <p:nvPr/>
        </p:nvSpPr>
        <p:spPr>
          <a:xfrm>
            <a:off x="502920" y="365760"/>
            <a:ext cx="1005840" cy="438912"/>
          </a:xfrm>
          <a:prstGeom prst="roundRect">
            <a:avLst>
              <a:gd fmla="val 16667" name="adj"/>
            </a:avLst>
          </a:prstGeom>
          <a:solidFill>
            <a:srgbClr val="FFD166"/>
          </a:solidFill>
          <a:ln cap="flat" cmpd="sng" w="12700">
            <a:solidFill>
              <a:srgbClr val="FFD1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6" name="Google Shape;636;p26"/>
          <p:cNvSpPr/>
          <p:nvPr/>
        </p:nvSpPr>
        <p:spPr>
          <a:xfrm>
            <a:off x="502920" y="365760"/>
            <a:ext cx="100584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08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7" name="Google Shape;637;p26"/>
          <p:cNvSpPr/>
          <p:nvPr/>
        </p:nvSpPr>
        <p:spPr>
          <a:xfrm>
            <a:off x="1691640" y="320040"/>
            <a:ext cx="72237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Try It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8" name="Google Shape;638;p26"/>
          <p:cNvSpPr/>
          <p:nvPr/>
        </p:nvSpPr>
        <p:spPr>
          <a:xfrm>
            <a:off x="228600" y="914400"/>
            <a:ext cx="5669280" cy="457200"/>
          </a:xfrm>
          <a:prstGeom prst="rect">
            <a:avLst/>
          </a:prstGeom>
          <a:solidFill>
            <a:srgbClr val="FFD166"/>
          </a:solidFill>
          <a:ln cap="flat" cmpd="sng" w="12700">
            <a:solidFill>
              <a:srgbClr val="FFD1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9" name="Google Shape;639;p26"/>
          <p:cNvSpPr/>
          <p:nvPr/>
        </p:nvSpPr>
        <p:spPr>
          <a:xfrm>
            <a:off x="320040" y="914400"/>
            <a:ext cx="5486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Leaderboard Builder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0" name="Google Shape;640;p26"/>
          <p:cNvSpPr/>
          <p:nvPr/>
        </p:nvSpPr>
        <p:spPr>
          <a:xfrm>
            <a:off x="228600" y="1371600"/>
            <a:ext cx="5669280" cy="246888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12700">
              <a:srgbClr val="000000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1" name="Google Shape;641;p26"/>
          <p:cNvSpPr/>
          <p:nvPr/>
        </p:nvSpPr>
        <p:spPr>
          <a:xfrm>
            <a:off x="347472" y="1508760"/>
            <a:ext cx="274320" cy="274320"/>
          </a:xfrm>
          <a:prstGeom prst="rect">
            <a:avLst/>
          </a:prstGeom>
          <a:solidFill>
            <a:srgbClr val="FFD166"/>
          </a:solidFill>
          <a:ln cap="flat" cmpd="sng" w="12700">
            <a:solidFill>
              <a:srgbClr val="FFD1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2" name="Google Shape;642;p26"/>
          <p:cNvSpPr/>
          <p:nvPr/>
        </p:nvSpPr>
        <p:spPr>
          <a:xfrm>
            <a:off x="347472" y="1508760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3" name="Google Shape;643;p26"/>
          <p:cNvSpPr/>
          <p:nvPr/>
        </p:nvSpPr>
        <p:spPr>
          <a:xfrm>
            <a:off x="713232" y="1463040"/>
            <a:ext cx="50749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Create an inventory table with 5 items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4" name="Google Shape;644;p26"/>
          <p:cNvSpPr/>
          <p:nvPr/>
        </p:nvSpPr>
        <p:spPr>
          <a:xfrm>
            <a:off x="347472" y="1956816"/>
            <a:ext cx="274320" cy="274320"/>
          </a:xfrm>
          <a:prstGeom prst="rect">
            <a:avLst/>
          </a:prstGeom>
          <a:solidFill>
            <a:srgbClr val="FFD166"/>
          </a:solidFill>
          <a:ln cap="flat" cmpd="sng" w="12700">
            <a:solidFill>
              <a:srgbClr val="FFD1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5" name="Google Shape;645;p26"/>
          <p:cNvSpPr/>
          <p:nvPr/>
        </p:nvSpPr>
        <p:spPr>
          <a:xfrm>
            <a:off x="347472" y="1956816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6" name="Google Shape;646;p26"/>
          <p:cNvSpPr/>
          <p:nvPr/>
        </p:nvSpPr>
        <p:spPr>
          <a:xfrm>
            <a:off x="713232" y="1911096"/>
            <a:ext cx="50749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Loop through it with ipairs and print each one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7" name="Google Shape;647;p26"/>
          <p:cNvSpPr/>
          <p:nvPr/>
        </p:nvSpPr>
        <p:spPr>
          <a:xfrm>
            <a:off x="347472" y="2404872"/>
            <a:ext cx="274320" cy="274320"/>
          </a:xfrm>
          <a:prstGeom prst="rect">
            <a:avLst/>
          </a:prstGeom>
          <a:solidFill>
            <a:srgbClr val="FFD166"/>
          </a:solidFill>
          <a:ln cap="flat" cmpd="sng" w="12700">
            <a:solidFill>
              <a:srgbClr val="FFD1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8" name="Google Shape;648;p26"/>
          <p:cNvSpPr/>
          <p:nvPr/>
        </p:nvSpPr>
        <p:spPr>
          <a:xfrm>
            <a:off x="347472" y="2404872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9" name="Google Shape;649;p26"/>
          <p:cNvSpPr/>
          <p:nvPr/>
        </p:nvSpPr>
        <p:spPr>
          <a:xfrm>
            <a:off x="713232" y="2359152"/>
            <a:ext cx="50749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Create a player table: name, level, score, weapon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0" name="Google Shape;650;p26"/>
          <p:cNvSpPr/>
          <p:nvPr/>
        </p:nvSpPr>
        <p:spPr>
          <a:xfrm>
            <a:off x="347472" y="2852928"/>
            <a:ext cx="274320" cy="274320"/>
          </a:xfrm>
          <a:prstGeom prst="rect">
            <a:avLst/>
          </a:prstGeom>
          <a:solidFill>
            <a:srgbClr val="FFD166"/>
          </a:solidFill>
          <a:ln cap="flat" cmpd="sng" w="12700">
            <a:solidFill>
              <a:srgbClr val="FFD1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1" name="Google Shape;651;p26"/>
          <p:cNvSpPr/>
          <p:nvPr/>
        </p:nvSpPr>
        <p:spPr>
          <a:xfrm>
            <a:off x="347472" y="2852928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2" name="Google Shape;652;p26"/>
          <p:cNvSpPr/>
          <p:nvPr/>
        </p:nvSpPr>
        <p:spPr>
          <a:xfrm>
            <a:off x="713232" y="2807208"/>
            <a:ext cx="50749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Write printPlayerCard() to display all fields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3" name="Google Shape;653;p26"/>
          <p:cNvSpPr/>
          <p:nvPr/>
        </p:nvSpPr>
        <p:spPr>
          <a:xfrm>
            <a:off x="347472" y="3300984"/>
            <a:ext cx="274320" cy="274320"/>
          </a:xfrm>
          <a:prstGeom prst="rect">
            <a:avLst/>
          </a:prstGeom>
          <a:solidFill>
            <a:srgbClr val="FFD166"/>
          </a:solidFill>
          <a:ln cap="flat" cmpd="sng" w="12700">
            <a:solidFill>
              <a:srgbClr val="FFD1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4" name="Google Shape;654;p26"/>
          <p:cNvSpPr/>
          <p:nvPr/>
        </p:nvSpPr>
        <p:spPr>
          <a:xfrm>
            <a:off x="347472" y="3300984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5" name="Google Shape;655;p26"/>
          <p:cNvSpPr/>
          <p:nvPr/>
        </p:nvSpPr>
        <p:spPr>
          <a:xfrm>
            <a:off x="713232" y="3255264"/>
            <a:ext cx="50749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Build a scores table and find the highest scorer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6" name="Google Shape;656;p26"/>
          <p:cNvSpPr/>
          <p:nvPr/>
        </p:nvSpPr>
        <p:spPr>
          <a:xfrm>
            <a:off x="228600" y="3931920"/>
            <a:ext cx="5669280" cy="777240"/>
          </a:xfrm>
          <a:prstGeom prst="rect">
            <a:avLst/>
          </a:prstGeom>
          <a:solidFill>
            <a:srgbClr val="1B2A3B"/>
          </a:solidFill>
          <a:ln cap="flat" cmpd="sng" w="12700">
            <a:solidFill>
              <a:srgbClr val="1B2A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7" name="Google Shape;657;p26"/>
          <p:cNvSpPr/>
          <p:nvPr/>
        </p:nvSpPr>
        <p:spPr>
          <a:xfrm>
            <a:off x="411480" y="3931920"/>
            <a:ext cx="54864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CD4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rgbClr val="00BCD4"/>
                </a:solidFill>
                <a:latin typeface="Calibri"/>
                <a:ea typeface="Calibri"/>
                <a:cs typeface="Calibri"/>
                <a:sym typeface="Calibri"/>
              </a:rPr>
              <a:t>for i, v in ipairs(list) · for k, v in pairs(dict)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8" name="Google Shape;658;p26"/>
          <p:cNvSpPr/>
          <p:nvPr/>
        </p:nvSpPr>
        <p:spPr>
          <a:xfrm>
            <a:off x="6035040" y="914400"/>
            <a:ext cx="2880360" cy="379476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12700">
              <a:srgbClr val="000000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9" name="Google Shape;659;p26"/>
          <p:cNvSpPr/>
          <p:nvPr/>
        </p:nvSpPr>
        <p:spPr>
          <a:xfrm>
            <a:off x="6035040" y="914400"/>
            <a:ext cx="2880360" cy="457200"/>
          </a:xfrm>
          <a:prstGeom prst="rect">
            <a:avLst/>
          </a:prstGeom>
          <a:solidFill>
            <a:srgbClr val="1B2A3B"/>
          </a:solidFill>
          <a:ln cap="flat" cmpd="sng" w="12700">
            <a:solidFill>
              <a:srgbClr val="1B2A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0" name="Google Shape;660;p26"/>
          <p:cNvSpPr/>
          <p:nvPr/>
        </p:nvSpPr>
        <p:spPr>
          <a:xfrm>
            <a:off x="6126480" y="914400"/>
            <a:ext cx="2743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166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D166"/>
                </a:solidFill>
                <a:latin typeface="Calibri"/>
                <a:ea typeface="Calibri"/>
                <a:cs typeface="Calibri"/>
                <a:sym typeface="Calibri"/>
              </a:rPr>
              <a:t>SKILLS UNLOCKED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1" name="Google Shape;661;p26"/>
          <p:cNvSpPr/>
          <p:nvPr/>
        </p:nvSpPr>
        <p:spPr>
          <a:xfrm>
            <a:off x="6126480" y="1463040"/>
            <a:ext cx="2697480" cy="3108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List tables · ipairs · Key-value tables · pairs · #table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2" name="Google Shape;662;p26"/>
          <p:cNvSpPr/>
          <p:nvPr/>
        </p:nvSpPr>
        <p:spPr>
          <a:xfrm>
            <a:off x="182880" y="4846320"/>
            <a:ext cx="87782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JS Bros Lab · Lesson 08 · Activity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1B2A"/>
        </a:solidFill>
      </p:bgPr>
    </p:bg>
    <p:spTree>
      <p:nvGrpSpPr>
        <p:cNvPr id="667" name="Shape 6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8" name="Google Shape;668;p27"/>
          <p:cNvSpPr/>
          <p:nvPr/>
        </p:nvSpPr>
        <p:spPr>
          <a:xfrm>
            <a:off x="0" y="0"/>
            <a:ext cx="457200" cy="5143500"/>
          </a:xfrm>
          <a:prstGeom prst="rect">
            <a:avLst/>
          </a:prstGeom>
          <a:solidFill>
            <a:srgbClr val="00BCD4"/>
          </a:solidFill>
          <a:ln cap="flat" cmpd="sng" w="12700">
            <a:solidFill>
              <a:srgbClr val="00BC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9" name="Google Shape;669;p27"/>
          <p:cNvSpPr/>
          <p:nvPr/>
        </p:nvSpPr>
        <p:spPr>
          <a:xfrm>
            <a:off x="640080" y="457200"/>
            <a:ext cx="320040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CD4"/>
              </a:buClr>
              <a:buSzPts val="13000"/>
              <a:buFont typeface="Calibri"/>
              <a:buNone/>
            </a:pPr>
            <a:r>
              <a:rPr b="1" i="0" lang="en-US" sz="13000" u="none" cap="none" strike="noStrike">
                <a:solidFill>
                  <a:srgbClr val="00BCD4"/>
                </a:solidFill>
                <a:latin typeface="Calibri"/>
                <a:ea typeface="Calibri"/>
                <a:cs typeface="Calibri"/>
                <a:sym typeface="Calibri"/>
              </a:rPr>
              <a:t>09</a:t>
            </a:r>
            <a:endParaRPr b="0" i="0" sz="1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0" name="Google Shape;670;p27"/>
          <p:cNvSpPr/>
          <p:nvPr/>
        </p:nvSpPr>
        <p:spPr>
          <a:xfrm>
            <a:off x="640080" y="502920"/>
            <a:ext cx="2743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CD4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0BCD4"/>
                </a:solidFill>
                <a:latin typeface="Calibri"/>
                <a:ea typeface="Calibri"/>
                <a:cs typeface="Calibri"/>
                <a:sym typeface="Calibri"/>
              </a:rPr>
              <a:t>LESSON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1" name="Google Shape;671;p27"/>
          <p:cNvSpPr/>
          <p:nvPr/>
        </p:nvSpPr>
        <p:spPr>
          <a:xfrm>
            <a:off x="640080" y="2651760"/>
            <a:ext cx="804672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800"/>
              <a:buFont typeface="Calibri"/>
              <a:buNone/>
            </a:pPr>
            <a:r>
              <a:rPr b="1" i="0" lang="en-US" sz="3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Build Your First Game</a:t>
            </a:r>
            <a:endParaRPr b="0" i="0" sz="3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2" name="Google Shape;672;p27"/>
          <p:cNvSpPr/>
          <p:nvPr/>
        </p:nvSpPr>
        <p:spPr>
          <a:xfrm>
            <a:off x="640080" y="3703320"/>
            <a:ext cx="77724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800"/>
              <a:buFont typeface="Calibri"/>
              <a:buNone/>
            </a:pPr>
            <a:r>
              <a:rPr b="0" i="0" lang="en-US" sz="18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Putting everything together — coin collector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3" name="Google Shape;673;p27"/>
          <p:cNvSpPr/>
          <p:nvPr/>
        </p:nvSpPr>
        <p:spPr>
          <a:xfrm>
            <a:off x="7132320" y="274320"/>
            <a:ext cx="1737360" cy="384048"/>
          </a:xfrm>
          <a:prstGeom prst="roundRect">
            <a:avLst>
              <a:gd fmla="val 14286" name="adj"/>
            </a:avLst>
          </a:prstGeom>
          <a:solidFill>
            <a:srgbClr val="00BCD4"/>
          </a:solidFill>
          <a:ln cap="flat" cmpd="sng" w="12700">
            <a:solidFill>
              <a:srgbClr val="00BC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4" name="Google Shape;674;p27"/>
          <p:cNvSpPr/>
          <p:nvPr/>
        </p:nvSpPr>
        <p:spPr>
          <a:xfrm>
            <a:off x="7132320" y="274320"/>
            <a:ext cx="17373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⏱ 90 min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5" name="Google Shape;675;p27"/>
          <p:cNvSpPr/>
          <p:nvPr/>
        </p:nvSpPr>
        <p:spPr>
          <a:xfrm>
            <a:off x="182880" y="4846320"/>
            <a:ext cx="87782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JS Bros Lab · Lesson 09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7FB"/>
        </a:solidFill>
      </p:bgPr>
    </p:bg>
    <p:spTree>
      <p:nvGrpSpPr>
        <p:cNvPr id="680" name="Shape 6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1" name="Google Shape;681;p28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0BCD4"/>
          </a:solidFill>
          <a:ln cap="flat" cmpd="sng" w="12700">
            <a:solidFill>
              <a:srgbClr val="00BC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2" name="Google Shape;682;p28"/>
          <p:cNvSpPr/>
          <p:nvPr/>
        </p:nvSpPr>
        <p:spPr>
          <a:xfrm>
            <a:off x="502920" y="365760"/>
            <a:ext cx="1005840" cy="438912"/>
          </a:xfrm>
          <a:prstGeom prst="roundRect">
            <a:avLst>
              <a:gd fmla="val 16667" name="adj"/>
            </a:avLst>
          </a:prstGeom>
          <a:solidFill>
            <a:srgbClr val="00BCD4"/>
          </a:solidFill>
          <a:ln cap="flat" cmpd="sng" w="12700">
            <a:solidFill>
              <a:srgbClr val="00BC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3" name="Google Shape;683;p28"/>
          <p:cNvSpPr/>
          <p:nvPr/>
        </p:nvSpPr>
        <p:spPr>
          <a:xfrm>
            <a:off x="502920" y="365760"/>
            <a:ext cx="100584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09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4" name="Google Shape;684;p28"/>
          <p:cNvSpPr/>
          <p:nvPr/>
        </p:nvSpPr>
        <p:spPr>
          <a:xfrm>
            <a:off x="1691640" y="320040"/>
            <a:ext cx="72237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Key Concepts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5" name="Google Shape;685;p28"/>
          <p:cNvSpPr/>
          <p:nvPr/>
        </p:nvSpPr>
        <p:spPr>
          <a:xfrm>
            <a:off x="228600" y="914400"/>
            <a:ext cx="8686800" cy="384048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8100000" dist="25400">
              <a:srgbClr val="000000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6" name="Google Shape;686;p28"/>
          <p:cNvSpPr/>
          <p:nvPr/>
        </p:nvSpPr>
        <p:spPr>
          <a:xfrm>
            <a:off x="411480" y="1051560"/>
            <a:ext cx="347472" cy="347472"/>
          </a:xfrm>
          <a:prstGeom prst="ellipse">
            <a:avLst/>
          </a:prstGeom>
          <a:solidFill>
            <a:srgbClr val="00BCD4"/>
          </a:solidFill>
          <a:ln cap="flat" cmpd="sng" w="12700">
            <a:solidFill>
              <a:srgbClr val="00BC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7" name="Google Shape;687;p28"/>
          <p:cNvSpPr/>
          <p:nvPr/>
        </p:nvSpPr>
        <p:spPr>
          <a:xfrm>
            <a:off x="411480" y="105156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8" name="Google Shape;688;p28"/>
          <p:cNvSpPr/>
          <p:nvPr/>
        </p:nvSpPr>
        <p:spPr>
          <a:xfrm>
            <a:off x="868680" y="1005840"/>
            <a:ext cx="78638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600"/>
              <a:buFont typeface="Courier New"/>
              <a:buNone/>
            </a:pPr>
            <a:r>
              <a:rPr b="0" i="0" lang="en-US" sz="1600" u="none" cap="none" strike="noStrike">
                <a:solidFill>
                  <a:srgbClr val="0D1B2A"/>
                </a:solidFill>
                <a:latin typeface="Courier New"/>
                <a:ea typeface="Courier New"/>
                <a:cs typeface="Courier New"/>
                <a:sym typeface="Courier New"/>
              </a:rPr>
              <a:t>4 scripts working together: Spawner, Score, Collector, Timer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9" name="Google Shape;689;p28"/>
          <p:cNvSpPr/>
          <p:nvPr/>
        </p:nvSpPr>
        <p:spPr>
          <a:xfrm>
            <a:off x="411480" y="1719072"/>
            <a:ext cx="347472" cy="347472"/>
          </a:xfrm>
          <a:prstGeom prst="ellipse">
            <a:avLst/>
          </a:prstGeom>
          <a:solidFill>
            <a:srgbClr val="00BCD4"/>
          </a:solidFill>
          <a:ln cap="flat" cmpd="sng" w="12700">
            <a:solidFill>
              <a:srgbClr val="00BC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0" name="Google Shape;690;p28"/>
          <p:cNvSpPr/>
          <p:nvPr/>
        </p:nvSpPr>
        <p:spPr>
          <a:xfrm>
            <a:off x="411480" y="1719072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1" name="Google Shape;691;p28"/>
          <p:cNvSpPr/>
          <p:nvPr/>
        </p:nvSpPr>
        <p:spPr>
          <a:xfrm>
            <a:off x="868680" y="1673352"/>
            <a:ext cx="78638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600"/>
              <a:buFont typeface="Courier New"/>
              <a:buNone/>
            </a:pPr>
            <a:r>
              <a:rPr b="0" i="0" lang="en-US" sz="1600" u="none" cap="none" strike="noStrike">
                <a:solidFill>
                  <a:srgbClr val="0D1B2A"/>
                </a:solidFill>
                <a:latin typeface="Courier New"/>
                <a:ea typeface="Courier New"/>
                <a:cs typeface="Courier New"/>
                <a:sym typeface="Courier New"/>
              </a:rPr>
              <a:t>math.random(-40, 40)  — random position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2" name="Google Shape;692;p28"/>
          <p:cNvSpPr/>
          <p:nvPr/>
        </p:nvSpPr>
        <p:spPr>
          <a:xfrm>
            <a:off x="411480" y="2386584"/>
            <a:ext cx="347472" cy="347472"/>
          </a:xfrm>
          <a:prstGeom prst="ellipse">
            <a:avLst/>
          </a:prstGeom>
          <a:solidFill>
            <a:srgbClr val="00BCD4"/>
          </a:solidFill>
          <a:ln cap="flat" cmpd="sng" w="12700">
            <a:solidFill>
              <a:srgbClr val="00BC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3" name="Google Shape;693;p28"/>
          <p:cNvSpPr/>
          <p:nvPr/>
        </p:nvSpPr>
        <p:spPr>
          <a:xfrm>
            <a:off x="411480" y="2386584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4" name="Google Shape;694;p28"/>
          <p:cNvSpPr/>
          <p:nvPr/>
        </p:nvSpPr>
        <p:spPr>
          <a:xfrm>
            <a:off x="868680" y="2340864"/>
            <a:ext cx="78638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600"/>
              <a:buFont typeface="Courier New"/>
              <a:buNone/>
            </a:pPr>
            <a:r>
              <a:rPr b="0" i="0" lang="en-US" sz="1600" u="none" cap="none" strike="noStrike">
                <a:solidFill>
                  <a:srgbClr val="0D1B2A"/>
                </a:solidFill>
                <a:latin typeface="Courier New"/>
                <a:ea typeface="Courier New"/>
                <a:cs typeface="Courier New"/>
                <a:sym typeface="Courier New"/>
              </a:rPr>
              <a:t>GetPlayerFromCharacter(hit.Parent)  — who touched it?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5" name="Google Shape;695;p28"/>
          <p:cNvSpPr/>
          <p:nvPr/>
        </p:nvSpPr>
        <p:spPr>
          <a:xfrm>
            <a:off x="411480" y="3054096"/>
            <a:ext cx="347472" cy="347472"/>
          </a:xfrm>
          <a:prstGeom prst="ellipse">
            <a:avLst/>
          </a:prstGeom>
          <a:solidFill>
            <a:srgbClr val="00BCD4"/>
          </a:solidFill>
          <a:ln cap="flat" cmpd="sng" w="12700">
            <a:solidFill>
              <a:srgbClr val="00BC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6" name="Google Shape;696;p28"/>
          <p:cNvSpPr/>
          <p:nvPr/>
        </p:nvSpPr>
        <p:spPr>
          <a:xfrm>
            <a:off x="411480" y="3054096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7" name="Google Shape;697;p28"/>
          <p:cNvSpPr/>
          <p:nvPr/>
        </p:nvSpPr>
        <p:spPr>
          <a:xfrm>
            <a:off x="868680" y="3008376"/>
            <a:ext cx="78638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600"/>
              <a:buFont typeface="Courier New"/>
              <a:buNone/>
            </a:pPr>
            <a:r>
              <a:rPr b="0" i="0" lang="en-US" sz="1600" u="none" cap="none" strike="noStrike">
                <a:solidFill>
                  <a:srgbClr val="0D1B2A"/>
                </a:solidFill>
                <a:latin typeface="Courier New"/>
                <a:ea typeface="Courier New"/>
                <a:cs typeface="Courier New"/>
                <a:sym typeface="Courier New"/>
              </a:rPr>
              <a:t>task.delay(3, function() ... end)  — run later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8" name="Google Shape;698;p28"/>
          <p:cNvSpPr/>
          <p:nvPr/>
        </p:nvSpPr>
        <p:spPr>
          <a:xfrm>
            <a:off x="411480" y="3721608"/>
            <a:ext cx="347472" cy="347472"/>
          </a:xfrm>
          <a:prstGeom prst="ellipse">
            <a:avLst/>
          </a:prstGeom>
          <a:solidFill>
            <a:srgbClr val="00BCD4"/>
          </a:solidFill>
          <a:ln cap="flat" cmpd="sng" w="12700">
            <a:solidFill>
              <a:srgbClr val="00BC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9" name="Google Shape;699;p28"/>
          <p:cNvSpPr/>
          <p:nvPr/>
        </p:nvSpPr>
        <p:spPr>
          <a:xfrm>
            <a:off x="411480" y="3721608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0" name="Google Shape;700;p28"/>
          <p:cNvSpPr/>
          <p:nvPr/>
        </p:nvSpPr>
        <p:spPr>
          <a:xfrm>
            <a:off x="868680" y="3675888"/>
            <a:ext cx="78638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600"/>
              <a:buFont typeface="Courier New"/>
              <a:buNone/>
            </a:pPr>
            <a:r>
              <a:rPr b="0" i="0" lang="en-US" sz="1600" u="none" cap="none" strike="noStrike">
                <a:solidFill>
                  <a:srgbClr val="0D1B2A"/>
                </a:solidFill>
                <a:latin typeface="Courier New"/>
                <a:ea typeface="Courier New"/>
                <a:cs typeface="Courier New"/>
                <a:sym typeface="Courier New"/>
              </a:rPr>
              <a:t>_G for sharing data between scripts (for now)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1" name="Google Shape;701;p28"/>
          <p:cNvSpPr/>
          <p:nvPr/>
        </p:nvSpPr>
        <p:spPr>
          <a:xfrm>
            <a:off x="182880" y="4846320"/>
            <a:ext cx="87782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JS Bros Lab · Lesson 09 · Key Concepts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7FB"/>
        </a:solidFill>
      </p:bgPr>
    </p:bg>
    <p:spTree>
      <p:nvGrpSpPr>
        <p:cNvPr id="706" name="Shape 7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7" name="Google Shape;707;p29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0BCD4"/>
          </a:solidFill>
          <a:ln cap="flat" cmpd="sng" w="12700">
            <a:solidFill>
              <a:srgbClr val="00BC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8" name="Google Shape;708;p29"/>
          <p:cNvSpPr/>
          <p:nvPr/>
        </p:nvSpPr>
        <p:spPr>
          <a:xfrm>
            <a:off x="502920" y="365760"/>
            <a:ext cx="1005840" cy="438912"/>
          </a:xfrm>
          <a:prstGeom prst="roundRect">
            <a:avLst>
              <a:gd fmla="val 16667" name="adj"/>
            </a:avLst>
          </a:prstGeom>
          <a:solidFill>
            <a:srgbClr val="00BCD4"/>
          </a:solidFill>
          <a:ln cap="flat" cmpd="sng" w="12700">
            <a:solidFill>
              <a:srgbClr val="00BC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9" name="Google Shape;709;p29"/>
          <p:cNvSpPr/>
          <p:nvPr/>
        </p:nvSpPr>
        <p:spPr>
          <a:xfrm>
            <a:off x="502920" y="365760"/>
            <a:ext cx="100584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09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0" name="Google Shape;710;p29"/>
          <p:cNvSpPr/>
          <p:nvPr/>
        </p:nvSpPr>
        <p:spPr>
          <a:xfrm>
            <a:off x="1691640" y="320040"/>
            <a:ext cx="72237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Try It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1" name="Google Shape;711;p29"/>
          <p:cNvSpPr/>
          <p:nvPr/>
        </p:nvSpPr>
        <p:spPr>
          <a:xfrm>
            <a:off x="228600" y="914400"/>
            <a:ext cx="5669280" cy="457200"/>
          </a:xfrm>
          <a:prstGeom prst="rect">
            <a:avLst/>
          </a:prstGeom>
          <a:solidFill>
            <a:srgbClr val="00BCD4"/>
          </a:solidFill>
          <a:ln cap="flat" cmpd="sng" w="12700">
            <a:solidFill>
              <a:srgbClr val="00BC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2" name="Google Shape;712;p29"/>
          <p:cNvSpPr/>
          <p:nvPr/>
        </p:nvSpPr>
        <p:spPr>
          <a:xfrm>
            <a:off x="320040" y="914400"/>
            <a:ext cx="5486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Ship the Coin Collector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3" name="Google Shape;713;p29"/>
          <p:cNvSpPr/>
          <p:nvPr/>
        </p:nvSpPr>
        <p:spPr>
          <a:xfrm>
            <a:off x="228600" y="1371600"/>
            <a:ext cx="5669280" cy="246888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12700">
              <a:srgbClr val="000000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4" name="Google Shape;714;p29"/>
          <p:cNvSpPr/>
          <p:nvPr/>
        </p:nvSpPr>
        <p:spPr>
          <a:xfrm>
            <a:off x="347472" y="1508760"/>
            <a:ext cx="274320" cy="274320"/>
          </a:xfrm>
          <a:prstGeom prst="rect">
            <a:avLst/>
          </a:prstGeom>
          <a:solidFill>
            <a:srgbClr val="00BCD4"/>
          </a:solidFill>
          <a:ln cap="flat" cmpd="sng" w="12700">
            <a:solidFill>
              <a:srgbClr val="00BC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5" name="Google Shape;715;p29"/>
          <p:cNvSpPr/>
          <p:nvPr/>
        </p:nvSpPr>
        <p:spPr>
          <a:xfrm>
            <a:off x="347472" y="1508760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6" name="Google Shape;716;p29"/>
          <p:cNvSpPr/>
          <p:nvPr/>
        </p:nvSpPr>
        <p:spPr>
          <a:xfrm>
            <a:off x="713232" y="1463040"/>
            <a:ext cx="50749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Build arena + CoinSpawner (10 coins at random positions)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7" name="Google Shape;717;p29"/>
          <p:cNvSpPr/>
          <p:nvPr/>
        </p:nvSpPr>
        <p:spPr>
          <a:xfrm>
            <a:off x="347472" y="1956816"/>
            <a:ext cx="274320" cy="274320"/>
          </a:xfrm>
          <a:prstGeom prst="rect">
            <a:avLst/>
          </a:prstGeom>
          <a:solidFill>
            <a:srgbClr val="00BCD4"/>
          </a:solidFill>
          <a:ln cap="flat" cmpd="sng" w="12700">
            <a:solidFill>
              <a:srgbClr val="00BC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8" name="Google Shape;718;p29"/>
          <p:cNvSpPr/>
          <p:nvPr/>
        </p:nvSpPr>
        <p:spPr>
          <a:xfrm>
            <a:off x="347472" y="1956816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9" name="Google Shape;719;p29"/>
          <p:cNvSpPr/>
          <p:nvPr/>
        </p:nvSpPr>
        <p:spPr>
          <a:xfrm>
            <a:off x="713232" y="1911096"/>
            <a:ext cx="50749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Build ScoreTracker (_G.getScore, _G.addScore)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0" name="Google Shape;720;p29"/>
          <p:cNvSpPr/>
          <p:nvPr/>
        </p:nvSpPr>
        <p:spPr>
          <a:xfrm>
            <a:off x="347472" y="2404872"/>
            <a:ext cx="274320" cy="274320"/>
          </a:xfrm>
          <a:prstGeom prst="rect">
            <a:avLst/>
          </a:prstGeom>
          <a:solidFill>
            <a:srgbClr val="00BCD4"/>
          </a:solidFill>
          <a:ln cap="flat" cmpd="sng" w="12700">
            <a:solidFill>
              <a:srgbClr val="00BC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1" name="Google Shape;721;p29"/>
          <p:cNvSpPr/>
          <p:nvPr/>
        </p:nvSpPr>
        <p:spPr>
          <a:xfrm>
            <a:off x="347472" y="2404872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2" name="Google Shape;722;p29"/>
          <p:cNvSpPr/>
          <p:nvPr/>
        </p:nvSpPr>
        <p:spPr>
          <a:xfrm>
            <a:off x="713232" y="2359152"/>
            <a:ext cx="50749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Build CoinCollector (touch → destroy → add score → respawn)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3" name="Google Shape;723;p29"/>
          <p:cNvSpPr/>
          <p:nvPr/>
        </p:nvSpPr>
        <p:spPr>
          <a:xfrm>
            <a:off x="347472" y="2852928"/>
            <a:ext cx="274320" cy="274320"/>
          </a:xfrm>
          <a:prstGeom prst="rect">
            <a:avLst/>
          </a:prstGeom>
          <a:solidFill>
            <a:srgbClr val="00BCD4"/>
          </a:solidFill>
          <a:ln cap="flat" cmpd="sng" w="12700">
            <a:solidFill>
              <a:srgbClr val="00BC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4" name="Google Shape;724;p29"/>
          <p:cNvSpPr/>
          <p:nvPr/>
        </p:nvSpPr>
        <p:spPr>
          <a:xfrm>
            <a:off x="347472" y="2852928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5" name="Google Shape;725;p29"/>
          <p:cNvSpPr/>
          <p:nvPr/>
        </p:nvSpPr>
        <p:spPr>
          <a:xfrm>
            <a:off x="713232" y="2807208"/>
            <a:ext cx="50749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Build GameTimer (60s countdown → find winner)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6" name="Google Shape;726;p29"/>
          <p:cNvSpPr/>
          <p:nvPr/>
        </p:nvSpPr>
        <p:spPr>
          <a:xfrm>
            <a:off x="347472" y="3300984"/>
            <a:ext cx="274320" cy="274320"/>
          </a:xfrm>
          <a:prstGeom prst="rect">
            <a:avLst/>
          </a:prstGeom>
          <a:solidFill>
            <a:srgbClr val="00BCD4"/>
          </a:solidFill>
          <a:ln cap="flat" cmpd="sng" w="12700">
            <a:solidFill>
              <a:srgbClr val="00BC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7" name="Google Shape;727;p29"/>
          <p:cNvSpPr/>
          <p:nvPr/>
        </p:nvSpPr>
        <p:spPr>
          <a:xfrm>
            <a:off x="347472" y="3300984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8" name="Google Shape;728;p29"/>
          <p:cNvSpPr/>
          <p:nvPr/>
        </p:nvSpPr>
        <p:spPr>
          <a:xfrm>
            <a:off x="713232" y="3255264"/>
            <a:ext cx="50749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Playtest together — commit and push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9" name="Google Shape;729;p29"/>
          <p:cNvSpPr/>
          <p:nvPr/>
        </p:nvSpPr>
        <p:spPr>
          <a:xfrm>
            <a:off x="228600" y="3931920"/>
            <a:ext cx="5669280" cy="777240"/>
          </a:xfrm>
          <a:prstGeom prst="rect">
            <a:avLst/>
          </a:prstGeom>
          <a:solidFill>
            <a:srgbClr val="1B2A3B"/>
          </a:solidFill>
          <a:ln cap="flat" cmpd="sng" w="12700">
            <a:solidFill>
              <a:srgbClr val="1B2A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0" name="Google Shape;730;p29"/>
          <p:cNvSpPr/>
          <p:nvPr/>
        </p:nvSpPr>
        <p:spPr>
          <a:xfrm>
            <a:off x="411480" y="3931920"/>
            <a:ext cx="54864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CD4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rgbClr val="00BCD4"/>
                </a:solidFill>
                <a:latin typeface="Calibri"/>
                <a:ea typeface="Calibri"/>
                <a:cs typeface="Calibri"/>
                <a:sym typeface="Calibri"/>
              </a:rPr>
              <a:t>"You just shipped a multiplayer game. That's real."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1" name="Google Shape;731;p29"/>
          <p:cNvSpPr/>
          <p:nvPr/>
        </p:nvSpPr>
        <p:spPr>
          <a:xfrm>
            <a:off x="6035040" y="914400"/>
            <a:ext cx="2880360" cy="379476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12700">
              <a:srgbClr val="000000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2" name="Google Shape;732;p29"/>
          <p:cNvSpPr/>
          <p:nvPr/>
        </p:nvSpPr>
        <p:spPr>
          <a:xfrm>
            <a:off x="6035040" y="914400"/>
            <a:ext cx="2880360" cy="457200"/>
          </a:xfrm>
          <a:prstGeom prst="rect">
            <a:avLst/>
          </a:prstGeom>
          <a:solidFill>
            <a:srgbClr val="1B2A3B"/>
          </a:solidFill>
          <a:ln cap="flat" cmpd="sng" w="12700">
            <a:solidFill>
              <a:srgbClr val="1B2A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3" name="Google Shape;733;p29"/>
          <p:cNvSpPr/>
          <p:nvPr/>
        </p:nvSpPr>
        <p:spPr>
          <a:xfrm>
            <a:off x="6126480" y="914400"/>
            <a:ext cx="2743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CD4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0BCD4"/>
                </a:solidFill>
                <a:latin typeface="Calibri"/>
                <a:ea typeface="Calibri"/>
                <a:cs typeface="Calibri"/>
                <a:sym typeface="Calibri"/>
              </a:rPr>
              <a:t>SKILLS UNLOCKED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4" name="Google Shape;734;p29"/>
          <p:cNvSpPr/>
          <p:nvPr/>
        </p:nvSpPr>
        <p:spPr>
          <a:xfrm>
            <a:off x="6126480" y="1463040"/>
            <a:ext cx="2697480" cy="3108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Multi-script architecture · math.random · task.delay · game timers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5" name="Google Shape;735;p29"/>
          <p:cNvSpPr/>
          <p:nvPr/>
        </p:nvSpPr>
        <p:spPr>
          <a:xfrm>
            <a:off x="182880" y="4846320"/>
            <a:ext cx="87782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JS Bros Lab · Lesson 09 · Activity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1B2A"/>
        </a:solidFill>
      </p:bgPr>
    </p:bg>
    <p:spTree>
      <p:nvGrpSpPr>
        <p:cNvPr id="740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p30"/>
          <p:cNvSpPr/>
          <p:nvPr/>
        </p:nvSpPr>
        <p:spPr>
          <a:xfrm>
            <a:off x="0" y="0"/>
            <a:ext cx="457200" cy="5143500"/>
          </a:xfrm>
          <a:prstGeom prst="rect">
            <a:avLst/>
          </a:prstGeom>
          <a:solidFill>
            <a:srgbClr val="1565C0"/>
          </a:solidFill>
          <a:ln cap="flat" cmpd="sng" w="12700">
            <a:solidFill>
              <a:srgbClr val="1565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2" name="Google Shape;742;p30"/>
          <p:cNvSpPr/>
          <p:nvPr/>
        </p:nvSpPr>
        <p:spPr>
          <a:xfrm>
            <a:off x="640080" y="457200"/>
            <a:ext cx="320040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565C0"/>
              </a:buClr>
              <a:buSzPts val="13000"/>
              <a:buFont typeface="Calibri"/>
              <a:buNone/>
            </a:pPr>
            <a:r>
              <a:rPr b="1" i="0" lang="en-US" sz="13000" u="none" cap="none" strike="noStrike">
                <a:solidFill>
                  <a:srgbClr val="1565C0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 b="0" i="0" sz="1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3" name="Google Shape;743;p30"/>
          <p:cNvSpPr/>
          <p:nvPr/>
        </p:nvSpPr>
        <p:spPr>
          <a:xfrm>
            <a:off x="640080" y="502920"/>
            <a:ext cx="2743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565C0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565C0"/>
                </a:solidFill>
                <a:latin typeface="Calibri"/>
                <a:ea typeface="Calibri"/>
                <a:cs typeface="Calibri"/>
                <a:sym typeface="Calibri"/>
              </a:rPr>
              <a:t>LESSON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4" name="Google Shape;744;p30"/>
          <p:cNvSpPr/>
          <p:nvPr/>
        </p:nvSpPr>
        <p:spPr>
          <a:xfrm>
            <a:off x="640080" y="2651760"/>
            <a:ext cx="804672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800"/>
              <a:buFont typeface="Calibri"/>
              <a:buNone/>
            </a:pPr>
            <a:r>
              <a:rPr b="1" i="0" lang="en-US" sz="3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GUI &amp; Score Display</a:t>
            </a:r>
            <a:endParaRPr b="0" i="0" sz="3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5" name="Google Shape;745;p30"/>
          <p:cNvSpPr/>
          <p:nvPr/>
        </p:nvSpPr>
        <p:spPr>
          <a:xfrm>
            <a:off x="640080" y="3703320"/>
            <a:ext cx="77724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800"/>
              <a:buFont typeface="Calibri"/>
              <a:buNone/>
            </a:pPr>
            <a:r>
              <a:rPr b="0" i="0" lang="en-US" sz="18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Showing information on screen in real time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6" name="Google Shape;746;p30"/>
          <p:cNvSpPr/>
          <p:nvPr/>
        </p:nvSpPr>
        <p:spPr>
          <a:xfrm>
            <a:off x="7132320" y="274320"/>
            <a:ext cx="1737360" cy="384048"/>
          </a:xfrm>
          <a:prstGeom prst="roundRect">
            <a:avLst>
              <a:gd fmla="val 14286" name="adj"/>
            </a:avLst>
          </a:prstGeom>
          <a:solidFill>
            <a:srgbClr val="1565C0"/>
          </a:solidFill>
          <a:ln cap="flat" cmpd="sng" w="12700">
            <a:solidFill>
              <a:srgbClr val="1565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7" name="Google Shape;747;p30"/>
          <p:cNvSpPr/>
          <p:nvPr/>
        </p:nvSpPr>
        <p:spPr>
          <a:xfrm>
            <a:off x="7132320" y="274320"/>
            <a:ext cx="17373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⏱ 60 min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8" name="Google Shape;748;p30"/>
          <p:cNvSpPr/>
          <p:nvPr/>
        </p:nvSpPr>
        <p:spPr>
          <a:xfrm>
            <a:off x="182880" y="4846320"/>
            <a:ext cx="87782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JS Bros Lab · Lesson 10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7FB"/>
        </a:solidFill>
      </p:bgPr>
    </p:bg>
    <p:spTree>
      <p:nvGrpSpPr>
        <p:cNvPr id="753" name="Shape 7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4" name="Google Shape;754;p3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565C0"/>
          </a:solidFill>
          <a:ln cap="flat" cmpd="sng" w="12700">
            <a:solidFill>
              <a:srgbClr val="1565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5" name="Google Shape;755;p31"/>
          <p:cNvSpPr/>
          <p:nvPr/>
        </p:nvSpPr>
        <p:spPr>
          <a:xfrm>
            <a:off x="502920" y="365760"/>
            <a:ext cx="1005840" cy="438912"/>
          </a:xfrm>
          <a:prstGeom prst="roundRect">
            <a:avLst>
              <a:gd fmla="val 16667" name="adj"/>
            </a:avLst>
          </a:prstGeom>
          <a:solidFill>
            <a:srgbClr val="1565C0"/>
          </a:solidFill>
          <a:ln cap="flat" cmpd="sng" w="12700">
            <a:solidFill>
              <a:srgbClr val="1565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6" name="Google Shape;756;p31"/>
          <p:cNvSpPr/>
          <p:nvPr/>
        </p:nvSpPr>
        <p:spPr>
          <a:xfrm>
            <a:off x="502920" y="365760"/>
            <a:ext cx="100584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7" name="Google Shape;757;p31"/>
          <p:cNvSpPr/>
          <p:nvPr/>
        </p:nvSpPr>
        <p:spPr>
          <a:xfrm>
            <a:off x="1691640" y="320040"/>
            <a:ext cx="72237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Key Concepts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8" name="Google Shape;758;p31"/>
          <p:cNvSpPr/>
          <p:nvPr/>
        </p:nvSpPr>
        <p:spPr>
          <a:xfrm>
            <a:off x="228600" y="914400"/>
            <a:ext cx="8686800" cy="384048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8100000" dist="25400">
              <a:srgbClr val="000000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9" name="Google Shape;759;p31"/>
          <p:cNvSpPr/>
          <p:nvPr/>
        </p:nvSpPr>
        <p:spPr>
          <a:xfrm>
            <a:off x="411480" y="1051560"/>
            <a:ext cx="347472" cy="347472"/>
          </a:xfrm>
          <a:prstGeom prst="ellipse">
            <a:avLst/>
          </a:prstGeom>
          <a:solidFill>
            <a:srgbClr val="1565C0"/>
          </a:solidFill>
          <a:ln cap="flat" cmpd="sng" w="12700">
            <a:solidFill>
              <a:srgbClr val="1565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0" name="Google Shape;760;p31"/>
          <p:cNvSpPr/>
          <p:nvPr/>
        </p:nvSpPr>
        <p:spPr>
          <a:xfrm>
            <a:off x="411480" y="105156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1" name="Google Shape;761;p31"/>
          <p:cNvSpPr/>
          <p:nvPr/>
        </p:nvSpPr>
        <p:spPr>
          <a:xfrm>
            <a:off x="868680" y="1005840"/>
            <a:ext cx="78638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600"/>
              <a:buFont typeface="Courier New"/>
              <a:buNone/>
            </a:pPr>
            <a:r>
              <a:rPr b="0" i="0" lang="en-US" sz="1600" u="none" cap="none" strike="noStrike">
                <a:solidFill>
                  <a:srgbClr val="0D1B2A"/>
                </a:solidFill>
                <a:latin typeface="Courier New"/>
                <a:ea typeface="Courier New"/>
                <a:cs typeface="Courier New"/>
                <a:sym typeface="Courier New"/>
              </a:rPr>
              <a:t>ScreenGui → Frame → TextLabel (hierarchy)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2" name="Google Shape;762;p31"/>
          <p:cNvSpPr/>
          <p:nvPr/>
        </p:nvSpPr>
        <p:spPr>
          <a:xfrm>
            <a:off x="411480" y="1719072"/>
            <a:ext cx="347472" cy="347472"/>
          </a:xfrm>
          <a:prstGeom prst="ellipse">
            <a:avLst/>
          </a:prstGeom>
          <a:solidFill>
            <a:srgbClr val="1565C0"/>
          </a:solidFill>
          <a:ln cap="flat" cmpd="sng" w="12700">
            <a:solidFill>
              <a:srgbClr val="1565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3" name="Google Shape;763;p31"/>
          <p:cNvSpPr/>
          <p:nvPr/>
        </p:nvSpPr>
        <p:spPr>
          <a:xfrm>
            <a:off x="411480" y="1719072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4" name="Google Shape;764;p31"/>
          <p:cNvSpPr/>
          <p:nvPr/>
        </p:nvSpPr>
        <p:spPr>
          <a:xfrm>
            <a:off x="868680" y="1673352"/>
            <a:ext cx="78638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600"/>
              <a:buFont typeface="Courier New"/>
              <a:buNone/>
            </a:pPr>
            <a:r>
              <a:rPr b="0" i="0" lang="en-US" sz="1600" u="none" cap="none" strike="noStrike">
                <a:solidFill>
                  <a:srgbClr val="0D1B2A"/>
                </a:solidFill>
                <a:latin typeface="Courier New"/>
                <a:ea typeface="Courier New"/>
                <a:cs typeface="Courier New"/>
                <a:sym typeface="Courier New"/>
              </a:rPr>
              <a:t>LocalScript runs for each player individually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5" name="Google Shape;765;p31"/>
          <p:cNvSpPr/>
          <p:nvPr/>
        </p:nvSpPr>
        <p:spPr>
          <a:xfrm>
            <a:off x="411480" y="2386584"/>
            <a:ext cx="347472" cy="347472"/>
          </a:xfrm>
          <a:prstGeom prst="ellipse">
            <a:avLst/>
          </a:prstGeom>
          <a:solidFill>
            <a:srgbClr val="1565C0"/>
          </a:solidFill>
          <a:ln cap="flat" cmpd="sng" w="12700">
            <a:solidFill>
              <a:srgbClr val="1565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6" name="Google Shape;766;p31"/>
          <p:cNvSpPr/>
          <p:nvPr/>
        </p:nvSpPr>
        <p:spPr>
          <a:xfrm>
            <a:off x="411480" y="2386584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7" name="Google Shape;767;p31"/>
          <p:cNvSpPr/>
          <p:nvPr/>
        </p:nvSpPr>
        <p:spPr>
          <a:xfrm>
            <a:off x="868680" y="2340864"/>
            <a:ext cx="78638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600"/>
              <a:buFont typeface="Courier New"/>
              <a:buNone/>
            </a:pPr>
            <a:r>
              <a:rPr b="0" i="0" lang="en-US" sz="1600" u="none" cap="none" strike="noStrike">
                <a:solidFill>
                  <a:srgbClr val="0D1B2A"/>
                </a:solidFill>
                <a:latin typeface="Courier New"/>
                <a:ea typeface="Courier New"/>
                <a:cs typeface="Courier New"/>
                <a:sym typeface="Courier New"/>
              </a:rPr>
              <a:t>WaitForChild() — wait for GUI to load before using it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8" name="Google Shape;768;p31"/>
          <p:cNvSpPr/>
          <p:nvPr/>
        </p:nvSpPr>
        <p:spPr>
          <a:xfrm>
            <a:off x="411480" y="3054096"/>
            <a:ext cx="347472" cy="347472"/>
          </a:xfrm>
          <a:prstGeom prst="ellipse">
            <a:avLst/>
          </a:prstGeom>
          <a:solidFill>
            <a:srgbClr val="1565C0"/>
          </a:solidFill>
          <a:ln cap="flat" cmpd="sng" w="12700">
            <a:solidFill>
              <a:srgbClr val="1565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9" name="Google Shape;769;p31"/>
          <p:cNvSpPr/>
          <p:nvPr/>
        </p:nvSpPr>
        <p:spPr>
          <a:xfrm>
            <a:off x="411480" y="3054096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0" name="Google Shape;770;p31"/>
          <p:cNvSpPr/>
          <p:nvPr/>
        </p:nvSpPr>
        <p:spPr>
          <a:xfrm>
            <a:off x="868680" y="3008376"/>
            <a:ext cx="78638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600"/>
              <a:buFont typeface="Courier New"/>
              <a:buNone/>
            </a:pPr>
            <a:r>
              <a:rPr b="0" i="0" lang="en-US" sz="1600" u="none" cap="none" strike="noStrike">
                <a:solidFill>
                  <a:srgbClr val="0D1B2A"/>
                </a:solidFill>
                <a:latin typeface="Courier New"/>
                <a:ea typeface="Courier New"/>
                <a:cs typeface="Courier New"/>
                <a:sym typeface="Courier New"/>
              </a:rPr>
              <a:t>TextScaled, Font, BackgroundTransparency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1" name="Google Shape;771;p31"/>
          <p:cNvSpPr/>
          <p:nvPr/>
        </p:nvSpPr>
        <p:spPr>
          <a:xfrm>
            <a:off x="411480" y="3721608"/>
            <a:ext cx="347472" cy="347472"/>
          </a:xfrm>
          <a:prstGeom prst="ellipse">
            <a:avLst/>
          </a:prstGeom>
          <a:solidFill>
            <a:srgbClr val="1565C0"/>
          </a:solidFill>
          <a:ln cap="flat" cmpd="sng" w="12700">
            <a:solidFill>
              <a:srgbClr val="1565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2" name="Google Shape;772;p31"/>
          <p:cNvSpPr/>
          <p:nvPr/>
        </p:nvSpPr>
        <p:spPr>
          <a:xfrm>
            <a:off x="411480" y="3721608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3" name="Google Shape;773;p31"/>
          <p:cNvSpPr/>
          <p:nvPr/>
        </p:nvSpPr>
        <p:spPr>
          <a:xfrm>
            <a:off x="868680" y="3675888"/>
            <a:ext cx="78638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600"/>
              <a:buFont typeface="Courier New"/>
              <a:buNone/>
            </a:pPr>
            <a:r>
              <a:rPr b="0" i="0" lang="en-US" sz="1600" u="none" cap="none" strike="noStrike">
                <a:solidFill>
                  <a:srgbClr val="0D1B2A"/>
                </a:solidFill>
                <a:latin typeface="Courier New"/>
                <a:ea typeface="Courier New"/>
                <a:cs typeface="Courier New"/>
                <a:sym typeface="Courier New"/>
              </a:rPr>
              <a:t>Update UI in a while loop with task.wait(0.5)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4" name="Google Shape;774;p31"/>
          <p:cNvSpPr/>
          <p:nvPr/>
        </p:nvSpPr>
        <p:spPr>
          <a:xfrm>
            <a:off x="182880" y="4846320"/>
            <a:ext cx="87782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JS Bros Lab · Lesson 10 · Key Concepts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7FB"/>
        </a:solidFill>
      </p:bgPr>
    </p:bg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p3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565C0"/>
          </a:solidFill>
          <a:ln cap="flat" cmpd="sng" w="12700">
            <a:solidFill>
              <a:srgbClr val="1565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1" name="Google Shape;781;p32"/>
          <p:cNvSpPr/>
          <p:nvPr/>
        </p:nvSpPr>
        <p:spPr>
          <a:xfrm>
            <a:off x="502920" y="365760"/>
            <a:ext cx="1005840" cy="438912"/>
          </a:xfrm>
          <a:prstGeom prst="roundRect">
            <a:avLst>
              <a:gd fmla="val 16667" name="adj"/>
            </a:avLst>
          </a:prstGeom>
          <a:solidFill>
            <a:srgbClr val="1565C0"/>
          </a:solidFill>
          <a:ln cap="flat" cmpd="sng" w="12700">
            <a:solidFill>
              <a:srgbClr val="1565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2" name="Google Shape;782;p32"/>
          <p:cNvSpPr/>
          <p:nvPr/>
        </p:nvSpPr>
        <p:spPr>
          <a:xfrm>
            <a:off x="502920" y="365760"/>
            <a:ext cx="100584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3" name="Google Shape;783;p32"/>
          <p:cNvSpPr/>
          <p:nvPr/>
        </p:nvSpPr>
        <p:spPr>
          <a:xfrm>
            <a:off x="1691640" y="320040"/>
            <a:ext cx="72237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Try It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4" name="Google Shape;784;p32"/>
          <p:cNvSpPr/>
          <p:nvPr/>
        </p:nvSpPr>
        <p:spPr>
          <a:xfrm>
            <a:off x="228600" y="914400"/>
            <a:ext cx="5669280" cy="457200"/>
          </a:xfrm>
          <a:prstGeom prst="rect">
            <a:avLst/>
          </a:prstGeom>
          <a:solidFill>
            <a:srgbClr val="1565C0"/>
          </a:solidFill>
          <a:ln cap="flat" cmpd="sng" w="12700">
            <a:solidFill>
              <a:srgbClr val="1565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5" name="Google Shape;785;p32"/>
          <p:cNvSpPr/>
          <p:nvPr/>
        </p:nvSpPr>
        <p:spPr>
          <a:xfrm>
            <a:off x="320040" y="914400"/>
            <a:ext cx="5486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Build the HUD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6" name="Google Shape;786;p32"/>
          <p:cNvSpPr/>
          <p:nvPr/>
        </p:nvSpPr>
        <p:spPr>
          <a:xfrm>
            <a:off x="228600" y="1371600"/>
            <a:ext cx="5669280" cy="246888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12700">
              <a:srgbClr val="000000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7" name="Google Shape;787;p32"/>
          <p:cNvSpPr/>
          <p:nvPr/>
        </p:nvSpPr>
        <p:spPr>
          <a:xfrm>
            <a:off x="347472" y="1508760"/>
            <a:ext cx="274320" cy="274320"/>
          </a:xfrm>
          <a:prstGeom prst="rect">
            <a:avLst/>
          </a:prstGeom>
          <a:solidFill>
            <a:srgbClr val="1565C0"/>
          </a:solidFill>
          <a:ln cap="flat" cmpd="sng" w="12700">
            <a:solidFill>
              <a:srgbClr val="1565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8" name="Google Shape;788;p32"/>
          <p:cNvSpPr/>
          <p:nvPr/>
        </p:nvSpPr>
        <p:spPr>
          <a:xfrm>
            <a:off x="347472" y="1508760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9" name="Google Shape;789;p32"/>
          <p:cNvSpPr/>
          <p:nvPr/>
        </p:nvSpPr>
        <p:spPr>
          <a:xfrm>
            <a:off x="713232" y="1463040"/>
            <a:ext cx="50749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In StarterGui → ScreenGui → Frame → TextLabel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0" name="Google Shape;790;p32"/>
          <p:cNvSpPr/>
          <p:nvPr/>
        </p:nvSpPr>
        <p:spPr>
          <a:xfrm>
            <a:off x="347472" y="1956816"/>
            <a:ext cx="274320" cy="274320"/>
          </a:xfrm>
          <a:prstGeom prst="rect">
            <a:avLst/>
          </a:prstGeom>
          <a:solidFill>
            <a:srgbClr val="1565C0"/>
          </a:solidFill>
          <a:ln cap="flat" cmpd="sng" w="12700">
            <a:solidFill>
              <a:srgbClr val="1565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1" name="Google Shape;791;p32"/>
          <p:cNvSpPr/>
          <p:nvPr/>
        </p:nvSpPr>
        <p:spPr>
          <a:xfrm>
            <a:off x="347472" y="1956816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2" name="Google Shape;792;p32"/>
          <p:cNvSpPr/>
          <p:nvPr/>
        </p:nvSpPr>
        <p:spPr>
          <a:xfrm>
            <a:off x="713232" y="1911096"/>
            <a:ext cx="50749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Style it: dark bg, white text, GothamBold, TextScaled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3" name="Google Shape;793;p32"/>
          <p:cNvSpPr/>
          <p:nvPr/>
        </p:nvSpPr>
        <p:spPr>
          <a:xfrm>
            <a:off x="347472" y="2404872"/>
            <a:ext cx="274320" cy="274320"/>
          </a:xfrm>
          <a:prstGeom prst="rect">
            <a:avLst/>
          </a:prstGeom>
          <a:solidFill>
            <a:srgbClr val="1565C0"/>
          </a:solidFill>
          <a:ln cap="flat" cmpd="sng" w="12700">
            <a:solidFill>
              <a:srgbClr val="1565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4" name="Google Shape;794;p32"/>
          <p:cNvSpPr/>
          <p:nvPr/>
        </p:nvSpPr>
        <p:spPr>
          <a:xfrm>
            <a:off x="347472" y="2404872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5" name="Google Shape;795;p32"/>
          <p:cNvSpPr/>
          <p:nvPr/>
        </p:nvSpPr>
        <p:spPr>
          <a:xfrm>
            <a:off x="713232" y="2359152"/>
            <a:ext cx="50749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LocalScript in StarterPlayerScripts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6" name="Google Shape;796;p32"/>
          <p:cNvSpPr/>
          <p:nvPr/>
        </p:nvSpPr>
        <p:spPr>
          <a:xfrm>
            <a:off x="347472" y="2852928"/>
            <a:ext cx="274320" cy="274320"/>
          </a:xfrm>
          <a:prstGeom prst="rect">
            <a:avLst/>
          </a:prstGeom>
          <a:solidFill>
            <a:srgbClr val="1565C0"/>
          </a:solidFill>
          <a:ln cap="flat" cmpd="sng" w="12700">
            <a:solidFill>
              <a:srgbClr val="1565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7" name="Google Shape;797;p32"/>
          <p:cNvSpPr/>
          <p:nvPr/>
        </p:nvSpPr>
        <p:spPr>
          <a:xfrm>
            <a:off x="347472" y="2852928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8" name="Google Shape;798;p32"/>
          <p:cNvSpPr/>
          <p:nvPr/>
        </p:nvSpPr>
        <p:spPr>
          <a:xfrm>
            <a:off x="713232" y="2807208"/>
            <a:ext cx="50749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Update score label every 0.5s from _G.getScore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9" name="Google Shape;799;p32"/>
          <p:cNvSpPr/>
          <p:nvPr/>
        </p:nvSpPr>
        <p:spPr>
          <a:xfrm>
            <a:off x="347472" y="3300984"/>
            <a:ext cx="274320" cy="274320"/>
          </a:xfrm>
          <a:prstGeom prst="rect">
            <a:avLst/>
          </a:prstGeom>
          <a:solidFill>
            <a:srgbClr val="1565C0"/>
          </a:solidFill>
          <a:ln cap="flat" cmpd="sng" w="12700">
            <a:solidFill>
              <a:srgbClr val="1565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0" name="Google Shape;800;p32"/>
          <p:cNvSpPr/>
          <p:nvPr/>
        </p:nvSpPr>
        <p:spPr>
          <a:xfrm>
            <a:off x="347472" y="3300984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1" name="Google Shape;801;p32"/>
          <p:cNvSpPr/>
          <p:nvPr/>
        </p:nvSpPr>
        <p:spPr>
          <a:xfrm>
            <a:off x="713232" y="3255264"/>
            <a:ext cx="50749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Add timer label, leader display, and winner screen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2" name="Google Shape;802;p32"/>
          <p:cNvSpPr/>
          <p:nvPr/>
        </p:nvSpPr>
        <p:spPr>
          <a:xfrm>
            <a:off x="228600" y="3931920"/>
            <a:ext cx="5669280" cy="777240"/>
          </a:xfrm>
          <a:prstGeom prst="rect">
            <a:avLst/>
          </a:prstGeom>
          <a:solidFill>
            <a:srgbClr val="1B2A3B"/>
          </a:solidFill>
          <a:ln cap="flat" cmpd="sng" w="12700">
            <a:solidFill>
              <a:srgbClr val="1B2A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3" name="Google Shape;803;p32"/>
          <p:cNvSpPr/>
          <p:nvPr/>
        </p:nvSpPr>
        <p:spPr>
          <a:xfrm>
            <a:off x="411480" y="3931920"/>
            <a:ext cx="54864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CD4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rgbClr val="00BCD4"/>
                </a:solidFill>
                <a:latin typeface="Calibri"/>
                <a:ea typeface="Calibri"/>
                <a:cs typeface="Calibri"/>
                <a:sym typeface="Calibri"/>
              </a:rPr>
              <a:t>player.PlayerGui:WaitForChild("GameGui")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4" name="Google Shape;804;p32"/>
          <p:cNvSpPr/>
          <p:nvPr/>
        </p:nvSpPr>
        <p:spPr>
          <a:xfrm>
            <a:off x="6035040" y="914400"/>
            <a:ext cx="2880360" cy="379476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12700">
              <a:srgbClr val="000000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5" name="Google Shape;805;p32"/>
          <p:cNvSpPr/>
          <p:nvPr/>
        </p:nvSpPr>
        <p:spPr>
          <a:xfrm>
            <a:off x="6035040" y="914400"/>
            <a:ext cx="2880360" cy="457200"/>
          </a:xfrm>
          <a:prstGeom prst="rect">
            <a:avLst/>
          </a:prstGeom>
          <a:solidFill>
            <a:srgbClr val="1B2A3B"/>
          </a:solidFill>
          <a:ln cap="flat" cmpd="sng" w="12700">
            <a:solidFill>
              <a:srgbClr val="1B2A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6" name="Google Shape;806;p32"/>
          <p:cNvSpPr/>
          <p:nvPr/>
        </p:nvSpPr>
        <p:spPr>
          <a:xfrm>
            <a:off x="6126480" y="914400"/>
            <a:ext cx="2743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565C0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565C0"/>
                </a:solidFill>
                <a:latin typeface="Calibri"/>
                <a:ea typeface="Calibri"/>
                <a:cs typeface="Calibri"/>
                <a:sym typeface="Calibri"/>
              </a:rPr>
              <a:t>SKILLS UNLOCKED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7" name="Google Shape;807;p32"/>
          <p:cNvSpPr/>
          <p:nvPr/>
        </p:nvSpPr>
        <p:spPr>
          <a:xfrm>
            <a:off x="6126480" y="1463040"/>
            <a:ext cx="2697480" cy="3108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ScreenGui · TextLabel · LocalScript · WaitForChild · live UI updates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8" name="Google Shape;808;p32"/>
          <p:cNvSpPr/>
          <p:nvPr/>
        </p:nvSpPr>
        <p:spPr>
          <a:xfrm>
            <a:off x="182880" y="4846320"/>
            <a:ext cx="87782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JS Bros Lab · Lesson 10 · Activity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1B2A"/>
        </a:solidFill>
      </p:bgPr>
    </p:bg>
    <p:spTree>
      <p:nvGrpSpPr>
        <p:cNvPr id="813" name="Shape 8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4" name="Google Shape;814;p33"/>
          <p:cNvSpPr/>
          <p:nvPr/>
        </p:nvSpPr>
        <p:spPr>
          <a:xfrm>
            <a:off x="0" y="0"/>
            <a:ext cx="457200" cy="5143500"/>
          </a:xfrm>
          <a:prstGeom prst="rect">
            <a:avLst/>
          </a:prstGeom>
          <a:solidFill>
            <a:srgbClr val="06D6A0"/>
          </a:solidFill>
          <a:ln cap="flat" cmpd="sng" w="12700">
            <a:solidFill>
              <a:srgbClr val="06D6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5" name="Google Shape;815;p33"/>
          <p:cNvSpPr/>
          <p:nvPr/>
        </p:nvSpPr>
        <p:spPr>
          <a:xfrm>
            <a:off x="640080" y="457200"/>
            <a:ext cx="320040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D6A0"/>
              </a:buClr>
              <a:buSzPts val="13000"/>
              <a:buFont typeface="Calibri"/>
              <a:buNone/>
            </a:pPr>
            <a:r>
              <a:rPr b="1" i="0" lang="en-US" sz="13000" u="none" cap="none" strike="noStrike">
                <a:solidFill>
                  <a:srgbClr val="06D6A0"/>
                </a:solidFill>
                <a:latin typeface="Calibri"/>
                <a:ea typeface="Calibri"/>
                <a:cs typeface="Calibri"/>
                <a:sym typeface="Calibri"/>
              </a:rPr>
              <a:t>11</a:t>
            </a:r>
            <a:endParaRPr b="0" i="0" sz="1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6" name="Google Shape;816;p33"/>
          <p:cNvSpPr/>
          <p:nvPr/>
        </p:nvSpPr>
        <p:spPr>
          <a:xfrm>
            <a:off x="640080" y="502920"/>
            <a:ext cx="2743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D6A0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6D6A0"/>
                </a:solidFill>
                <a:latin typeface="Calibri"/>
                <a:ea typeface="Calibri"/>
                <a:cs typeface="Calibri"/>
                <a:sym typeface="Calibri"/>
              </a:rPr>
              <a:t>LESSON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7" name="Google Shape;817;p33"/>
          <p:cNvSpPr/>
          <p:nvPr/>
        </p:nvSpPr>
        <p:spPr>
          <a:xfrm>
            <a:off x="640080" y="2651760"/>
            <a:ext cx="804672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800"/>
              <a:buFont typeface="Calibri"/>
              <a:buNone/>
            </a:pPr>
            <a:r>
              <a:rPr b="1" i="0" lang="en-US" sz="3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Sounds &amp; Effects</a:t>
            </a:r>
            <a:endParaRPr b="0" i="0" sz="3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8" name="Google Shape;818;p33"/>
          <p:cNvSpPr/>
          <p:nvPr/>
        </p:nvSpPr>
        <p:spPr>
          <a:xfrm>
            <a:off x="640080" y="3703320"/>
            <a:ext cx="77724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800"/>
              <a:buFont typeface="Calibri"/>
              <a:buNone/>
            </a:pPr>
            <a:r>
              <a:rPr b="0" i="0" lang="en-US" sz="18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Making your game feel alive with audio and visuals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9" name="Google Shape;819;p33"/>
          <p:cNvSpPr/>
          <p:nvPr/>
        </p:nvSpPr>
        <p:spPr>
          <a:xfrm>
            <a:off x="7132320" y="274320"/>
            <a:ext cx="1737360" cy="384048"/>
          </a:xfrm>
          <a:prstGeom prst="roundRect">
            <a:avLst>
              <a:gd fmla="val 14286" name="adj"/>
            </a:avLst>
          </a:prstGeom>
          <a:solidFill>
            <a:srgbClr val="06D6A0"/>
          </a:solidFill>
          <a:ln cap="flat" cmpd="sng" w="12700">
            <a:solidFill>
              <a:srgbClr val="06D6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0" name="Google Shape;820;p33"/>
          <p:cNvSpPr/>
          <p:nvPr/>
        </p:nvSpPr>
        <p:spPr>
          <a:xfrm>
            <a:off x="7132320" y="274320"/>
            <a:ext cx="17373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⏱ 60 min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1" name="Google Shape;821;p33"/>
          <p:cNvSpPr/>
          <p:nvPr/>
        </p:nvSpPr>
        <p:spPr>
          <a:xfrm>
            <a:off x="182880" y="4846320"/>
            <a:ext cx="87782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JS Bros Lab · Lesson 11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7FB"/>
        </a:solidFill>
      </p:bgPr>
    </p:bg>
    <p:spTree>
      <p:nvGrpSpPr>
        <p:cNvPr id="826" name="Shape 8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7" name="Google Shape;827;p34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6D6A0"/>
          </a:solidFill>
          <a:ln cap="flat" cmpd="sng" w="12700">
            <a:solidFill>
              <a:srgbClr val="06D6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8" name="Google Shape;828;p34"/>
          <p:cNvSpPr/>
          <p:nvPr/>
        </p:nvSpPr>
        <p:spPr>
          <a:xfrm>
            <a:off x="502920" y="365760"/>
            <a:ext cx="1005840" cy="438912"/>
          </a:xfrm>
          <a:prstGeom prst="roundRect">
            <a:avLst>
              <a:gd fmla="val 16667" name="adj"/>
            </a:avLst>
          </a:prstGeom>
          <a:solidFill>
            <a:srgbClr val="06D6A0"/>
          </a:solidFill>
          <a:ln cap="flat" cmpd="sng" w="12700">
            <a:solidFill>
              <a:srgbClr val="06D6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9" name="Google Shape;829;p34"/>
          <p:cNvSpPr/>
          <p:nvPr/>
        </p:nvSpPr>
        <p:spPr>
          <a:xfrm>
            <a:off x="502920" y="365760"/>
            <a:ext cx="100584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11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0" name="Google Shape;830;p34"/>
          <p:cNvSpPr/>
          <p:nvPr/>
        </p:nvSpPr>
        <p:spPr>
          <a:xfrm>
            <a:off x="1691640" y="320040"/>
            <a:ext cx="72237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Key Concepts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1" name="Google Shape;831;p34"/>
          <p:cNvSpPr/>
          <p:nvPr/>
        </p:nvSpPr>
        <p:spPr>
          <a:xfrm>
            <a:off x="228600" y="914400"/>
            <a:ext cx="8686800" cy="384048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8100000" dist="25400">
              <a:srgbClr val="000000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2" name="Google Shape;832;p34"/>
          <p:cNvSpPr/>
          <p:nvPr/>
        </p:nvSpPr>
        <p:spPr>
          <a:xfrm>
            <a:off x="411480" y="1051560"/>
            <a:ext cx="347472" cy="347472"/>
          </a:xfrm>
          <a:prstGeom prst="ellipse">
            <a:avLst/>
          </a:prstGeom>
          <a:solidFill>
            <a:srgbClr val="06D6A0"/>
          </a:solidFill>
          <a:ln cap="flat" cmpd="sng" w="12700">
            <a:solidFill>
              <a:srgbClr val="06D6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3" name="Google Shape;833;p34"/>
          <p:cNvSpPr/>
          <p:nvPr/>
        </p:nvSpPr>
        <p:spPr>
          <a:xfrm>
            <a:off x="411480" y="105156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4" name="Google Shape;834;p34"/>
          <p:cNvSpPr/>
          <p:nvPr/>
        </p:nvSpPr>
        <p:spPr>
          <a:xfrm>
            <a:off x="868680" y="1005840"/>
            <a:ext cx="78638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600"/>
              <a:buFont typeface="Courier New"/>
              <a:buNone/>
            </a:pPr>
            <a:r>
              <a:rPr b="0" i="0" lang="en-US" sz="1600" u="none" cap="none" strike="noStrike">
                <a:solidFill>
                  <a:srgbClr val="0D1B2A"/>
                </a:solidFill>
                <a:latin typeface="Courier New"/>
                <a:ea typeface="Courier New"/>
                <a:cs typeface="Courier New"/>
                <a:sym typeface="Courier New"/>
              </a:rPr>
              <a:t>Sound object — SoundId, Volume, Looped, :Play()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5" name="Google Shape;835;p34"/>
          <p:cNvSpPr/>
          <p:nvPr/>
        </p:nvSpPr>
        <p:spPr>
          <a:xfrm>
            <a:off x="411480" y="1719072"/>
            <a:ext cx="347472" cy="347472"/>
          </a:xfrm>
          <a:prstGeom prst="ellipse">
            <a:avLst/>
          </a:prstGeom>
          <a:solidFill>
            <a:srgbClr val="06D6A0"/>
          </a:solidFill>
          <a:ln cap="flat" cmpd="sng" w="12700">
            <a:solidFill>
              <a:srgbClr val="06D6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6" name="Google Shape;836;p34"/>
          <p:cNvSpPr/>
          <p:nvPr/>
        </p:nvSpPr>
        <p:spPr>
          <a:xfrm>
            <a:off x="411480" y="1719072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7" name="Google Shape;837;p34"/>
          <p:cNvSpPr/>
          <p:nvPr/>
        </p:nvSpPr>
        <p:spPr>
          <a:xfrm>
            <a:off x="868680" y="1673352"/>
            <a:ext cx="78638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600"/>
              <a:buFont typeface="Courier New"/>
              <a:buNone/>
            </a:pPr>
            <a:r>
              <a:rPr b="0" i="0" lang="en-US" sz="1600" u="none" cap="none" strike="noStrike">
                <a:solidFill>
                  <a:srgbClr val="0D1B2A"/>
                </a:solidFill>
                <a:latin typeface="Courier New"/>
                <a:ea typeface="Courier New"/>
                <a:cs typeface="Courier New"/>
                <a:sym typeface="Courier New"/>
              </a:rPr>
              <a:t>TweenService:Create(part, TweenInfo, goal):Play()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8" name="Google Shape;838;p34"/>
          <p:cNvSpPr/>
          <p:nvPr/>
        </p:nvSpPr>
        <p:spPr>
          <a:xfrm>
            <a:off x="411480" y="2386584"/>
            <a:ext cx="347472" cy="347472"/>
          </a:xfrm>
          <a:prstGeom prst="ellipse">
            <a:avLst/>
          </a:prstGeom>
          <a:solidFill>
            <a:srgbClr val="06D6A0"/>
          </a:solidFill>
          <a:ln cap="flat" cmpd="sng" w="12700">
            <a:solidFill>
              <a:srgbClr val="06D6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9" name="Google Shape;839;p34"/>
          <p:cNvSpPr/>
          <p:nvPr/>
        </p:nvSpPr>
        <p:spPr>
          <a:xfrm>
            <a:off x="411480" y="2386584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0" name="Google Shape;840;p34"/>
          <p:cNvSpPr/>
          <p:nvPr/>
        </p:nvSpPr>
        <p:spPr>
          <a:xfrm>
            <a:off x="868680" y="2340864"/>
            <a:ext cx="78638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600"/>
              <a:buFont typeface="Courier New"/>
              <a:buNone/>
            </a:pPr>
            <a:r>
              <a:rPr b="0" i="0" lang="en-US" sz="1600" u="none" cap="none" strike="noStrike">
                <a:solidFill>
                  <a:srgbClr val="0D1B2A"/>
                </a:solidFill>
                <a:latin typeface="Courier New"/>
                <a:ea typeface="Courier New"/>
                <a:cs typeface="Courier New"/>
                <a:sym typeface="Courier New"/>
              </a:rPr>
              <a:t>TweenInfo.new(duration, EasingStyle, Direction)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1" name="Google Shape;841;p34"/>
          <p:cNvSpPr/>
          <p:nvPr/>
        </p:nvSpPr>
        <p:spPr>
          <a:xfrm>
            <a:off x="411480" y="3054096"/>
            <a:ext cx="347472" cy="347472"/>
          </a:xfrm>
          <a:prstGeom prst="ellipse">
            <a:avLst/>
          </a:prstGeom>
          <a:solidFill>
            <a:srgbClr val="06D6A0"/>
          </a:solidFill>
          <a:ln cap="flat" cmpd="sng" w="12700">
            <a:solidFill>
              <a:srgbClr val="06D6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2" name="Google Shape;842;p34"/>
          <p:cNvSpPr/>
          <p:nvPr/>
        </p:nvSpPr>
        <p:spPr>
          <a:xfrm>
            <a:off x="411480" y="3054096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3" name="Google Shape;843;p34"/>
          <p:cNvSpPr/>
          <p:nvPr/>
        </p:nvSpPr>
        <p:spPr>
          <a:xfrm>
            <a:off x="868680" y="3008376"/>
            <a:ext cx="78638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600"/>
              <a:buFont typeface="Courier New"/>
              <a:buNone/>
            </a:pPr>
            <a:r>
              <a:rPr b="0" i="0" lang="en-US" sz="1600" u="none" cap="none" strike="noStrike">
                <a:solidFill>
                  <a:srgbClr val="0D1B2A"/>
                </a:solidFill>
                <a:latin typeface="Courier New"/>
                <a:ea typeface="Courier New"/>
                <a:cs typeface="Courier New"/>
                <a:sym typeface="Courier New"/>
              </a:rPr>
              <a:t>ParticleEmitter — Rate, Speed, Lifetime · emitter:Emit(20)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4" name="Google Shape;844;p34"/>
          <p:cNvSpPr/>
          <p:nvPr/>
        </p:nvSpPr>
        <p:spPr>
          <a:xfrm>
            <a:off x="411480" y="3721608"/>
            <a:ext cx="347472" cy="347472"/>
          </a:xfrm>
          <a:prstGeom prst="ellipse">
            <a:avLst/>
          </a:prstGeom>
          <a:solidFill>
            <a:srgbClr val="06D6A0"/>
          </a:solidFill>
          <a:ln cap="flat" cmpd="sng" w="12700">
            <a:solidFill>
              <a:srgbClr val="06D6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5" name="Google Shape;845;p34"/>
          <p:cNvSpPr/>
          <p:nvPr/>
        </p:nvSpPr>
        <p:spPr>
          <a:xfrm>
            <a:off x="411480" y="3721608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6" name="Google Shape;846;p34"/>
          <p:cNvSpPr/>
          <p:nvPr/>
        </p:nvSpPr>
        <p:spPr>
          <a:xfrm>
            <a:off x="868680" y="3675888"/>
            <a:ext cx="78638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600"/>
              <a:buFont typeface="Courier New"/>
              <a:buNone/>
            </a:pPr>
            <a:r>
              <a:rPr b="0" i="0" lang="en-US" sz="1600" u="none" cap="none" strike="noStrike">
                <a:solidFill>
                  <a:srgbClr val="0D1B2A"/>
                </a:solidFill>
                <a:latin typeface="Courier New"/>
                <a:ea typeface="Courier New"/>
                <a:cs typeface="Courier New"/>
                <a:sym typeface="Courier New"/>
              </a:rPr>
              <a:t>SoundService for global background music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7" name="Google Shape;847;p34"/>
          <p:cNvSpPr/>
          <p:nvPr/>
        </p:nvSpPr>
        <p:spPr>
          <a:xfrm>
            <a:off x="182880" y="4846320"/>
            <a:ext cx="87782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JS Bros Lab · Lesson 11 · Key Concepts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7FB"/>
        </a:solidFill>
      </p:bgPr>
    </p:bg>
    <p:spTree>
      <p:nvGrpSpPr>
        <p:cNvPr id="852" name="Shape 8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3" name="Google Shape;853;p35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6D6A0"/>
          </a:solidFill>
          <a:ln cap="flat" cmpd="sng" w="12700">
            <a:solidFill>
              <a:srgbClr val="06D6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4" name="Google Shape;854;p35"/>
          <p:cNvSpPr/>
          <p:nvPr/>
        </p:nvSpPr>
        <p:spPr>
          <a:xfrm>
            <a:off x="502920" y="365760"/>
            <a:ext cx="1005840" cy="438912"/>
          </a:xfrm>
          <a:prstGeom prst="roundRect">
            <a:avLst>
              <a:gd fmla="val 16667" name="adj"/>
            </a:avLst>
          </a:prstGeom>
          <a:solidFill>
            <a:srgbClr val="06D6A0"/>
          </a:solidFill>
          <a:ln cap="flat" cmpd="sng" w="12700">
            <a:solidFill>
              <a:srgbClr val="06D6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5" name="Google Shape;855;p35"/>
          <p:cNvSpPr/>
          <p:nvPr/>
        </p:nvSpPr>
        <p:spPr>
          <a:xfrm>
            <a:off x="502920" y="365760"/>
            <a:ext cx="100584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11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6" name="Google Shape;856;p35"/>
          <p:cNvSpPr/>
          <p:nvPr/>
        </p:nvSpPr>
        <p:spPr>
          <a:xfrm>
            <a:off x="1691640" y="320040"/>
            <a:ext cx="72237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Try It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7" name="Google Shape;857;p35"/>
          <p:cNvSpPr/>
          <p:nvPr/>
        </p:nvSpPr>
        <p:spPr>
          <a:xfrm>
            <a:off x="228600" y="914400"/>
            <a:ext cx="5669280" cy="457200"/>
          </a:xfrm>
          <a:prstGeom prst="rect">
            <a:avLst/>
          </a:prstGeom>
          <a:solidFill>
            <a:srgbClr val="06D6A0"/>
          </a:solidFill>
          <a:ln cap="flat" cmpd="sng" w="12700">
            <a:solidFill>
              <a:srgbClr val="06D6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8" name="Google Shape;858;p35"/>
          <p:cNvSpPr/>
          <p:nvPr/>
        </p:nvSpPr>
        <p:spPr>
          <a:xfrm>
            <a:off x="320040" y="914400"/>
            <a:ext cx="5486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Polish the Coin Collector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9" name="Google Shape;859;p35"/>
          <p:cNvSpPr/>
          <p:nvPr/>
        </p:nvSpPr>
        <p:spPr>
          <a:xfrm>
            <a:off x="228600" y="1371600"/>
            <a:ext cx="5669280" cy="246888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12700">
              <a:srgbClr val="000000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0" name="Google Shape;860;p35"/>
          <p:cNvSpPr/>
          <p:nvPr/>
        </p:nvSpPr>
        <p:spPr>
          <a:xfrm>
            <a:off x="347472" y="1508760"/>
            <a:ext cx="274320" cy="274320"/>
          </a:xfrm>
          <a:prstGeom prst="rect">
            <a:avLst/>
          </a:prstGeom>
          <a:solidFill>
            <a:srgbClr val="06D6A0"/>
          </a:solidFill>
          <a:ln cap="flat" cmpd="sng" w="12700">
            <a:solidFill>
              <a:srgbClr val="06D6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1" name="Google Shape;861;p35"/>
          <p:cNvSpPr/>
          <p:nvPr/>
        </p:nvSpPr>
        <p:spPr>
          <a:xfrm>
            <a:off x="347472" y="1508760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2" name="Google Shape;862;p35"/>
          <p:cNvSpPr/>
          <p:nvPr/>
        </p:nvSpPr>
        <p:spPr>
          <a:xfrm>
            <a:off x="713232" y="1463040"/>
            <a:ext cx="50749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Play a collect sound at coin position on pickup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3" name="Google Shape;863;p35"/>
          <p:cNvSpPr/>
          <p:nvPr/>
        </p:nvSpPr>
        <p:spPr>
          <a:xfrm>
            <a:off x="347472" y="1956816"/>
            <a:ext cx="274320" cy="274320"/>
          </a:xfrm>
          <a:prstGeom prst="rect">
            <a:avLst/>
          </a:prstGeom>
          <a:solidFill>
            <a:srgbClr val="06D6A0"/>
          </a:solidFill>
          <a:ln cap="flat" cmpd="sng" w="12700">
            <a:solidFill>
              <a:srgbClr val="06D6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4" name="Google Shape;864;p35"/>
          <p:cNvSpPr/>
          <p:nvPr/>
        </p:nvSpPr>
        <p:spPr>
          <a:xfrm>
            <a:off x="347472" y="1956816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5" name="Google Shape;865;p35"/>
          <p:cNvSpPr/>
          <p:nvPr/>
        </p:nvSpPr>
        <p:spPr>
          <a:xfrm>
            <a:off x="713232" y="1911096"/>
            <a:ext cx="50749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Tween coin Size to 3,3,3 before Destroy() (flash)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6" name="Google Shape;866;p35"/>
          <p:cNvSpPr/>
          <p:nvPr/>
        </p:nvSpPr>
        <p:spPr>
          <a:xfrm>
            <a:off x="347472" y="2404872"/>
            <a:ext cx="274320" cy="274320"/>
          </a:xfrm>
          <a:prstGeom prst="rect">
            <a:avLst/>
          </a:prstGeom>
          <a:solidFill>
            <a:srgbClr val="06D6A0"/>
          </a:solidFill>
          <a:ln cap="flat" cmpd="sng" w="12700">
            <a:solidFill>
              <a:srgbClr val="06D6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7" name="Google Shape;867;p35"/>
          <p:cNvSpPr/>
          <p:nvPr/>
        </p:nvSpPr>
        <p:spPr>
          <a:xfrm>
            <a:off x="347472" y="2404872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8" name="Google Shape;868;p35"/>
          <p:cNvSpPr/>
          <p:nvPr/>
        </p:nvSpPr>
        <p:spPr>
          <a:xfrm>
            <a:off x="713232" y="2359152"/>
            <a:ext cx="50749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Emit 20 particles at coin position on collect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9" name="Google Shape;869;p35"/>
          <p:cNvSpPr/>
          <p:nvPr/>
        </p:nvSpPr>
        <p:spPr>
          <a:xfrm>
            <a:off x="347472" y="2852928"/>
            <a:ext cx="274320" cy="274320"/>
          </a:xfrm>
          <a:prstGeom prst="rect">
            <a:avLst/>
          </a:prstGeom>
          <a:solidFill>
            <a:srgbClr val="06D6A0"/>
          </a:solidFill>
          <a:ln cap="flat" cmpd="sng" w="12700">
            <a:solidFill>
              <a:srgbClr val="06D6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0" name="Google Shape;870;p35"/>
          <p:cNvSpPr/>
          <p:nvPr/>
        </p:nvSpPr>
        <p:spPr>
          <a:xfrm>
            <a:off x="347472" y="2852928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1" name="Google Shape;871;p35"/>
          <p:cNvSpPr/>
          <p:nvPr/>
        </p:nvSpPr>
        <p:spPr>
          <a:xfrm>
            <a:off x="713232" y="2807208"/>
            <a:ext cx="50749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Pulse the Double Zone using a ping-pong tween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2" name="Google Shape;872;p35"/>
          <p:cNvSpPr/>
          <p:nvPr/>
        </p:nvSpPr>
        <p:spPr>
          <a:xfrm>
            <a:off x="347472" y="3300984"/>
            <a:ext cx="274320" cy="274320"/>
          </a:xfrm>
          <a:prstGeom prst="rect">
            <a:avLst/>
          </a:prstGeom>
          <a:solidFill>
            <a:srgbClr val="06D6A0"/>
          </a:solidFill>
          <a:ln cap="flat" cmpd="sng" w="12700">
            <a:solidFill>
              <a:srgbClr val="06D6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3" name="Google Shape;873;p35"/>
          <p:cNvSpPr/>
          <p:nvPr/>
        </p:nvSpPr>
        <p:spPr>
          <a:xfrm>
            <a:off x="347472" y="3300984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1B2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4" name="Google Shape;874;p35"/>
          <p:cNvSpPr/>
          <p:nvPr/>
        </p:nvSpPr>
        <p:spPr>
          <a:xfrm>
            <a:off x="713232" y="3255264"/>
            <a:ext cx="50749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Add background music to SoundService — let kids pick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5" name="Google Shape;875;p35"/>
          <p:cNvSpPr/>
          <p:nvPr/>
        </p:nvSpPr>
        <p:spPr>
          <a:xfrm>
            <a:off x="228600" y="3931920"/>
            <a:ext cx="5669280" cy="777240"/>
          </a:xfrm>
          <a:prstGeom prst="rect">
            <a:avLst/>
          </a:prstGeom>
          <a:solidFill>
            <a:srgbClr val="1B2A3B"/>
          </a:solidFill>
          <a:ln cap="flat" cmpd="sng" w="12700">
            <a:solidFill>
              <a:srgbClr val="1B2A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6" name="Google Shape;876;p35"/>
          <p:cNvSpPr/>
          <p:nvPr/>
        </p:nvSpPr>
        <p:spPr>
          <a:xfrm>
            <a:off x="411480" y="3931920"/>
            <a:ext cx="54864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BCD4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rgbClr val="00BCD4"/>
                </a:solidFill>
                <a:latin typeface="Calibri"/>
                <a:ea typeface="Calibri"/>
                <a:cs typeface="Calibri"/>
                <a:sym typeface="Calibri"/>
              </a:rPr>
              <a:t>"Same game. Completely different experience."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7" name="Google Shape;877;p35"/>
          <p:cNvSpPr/>
          <p:nvPr/>
        </p:nvSpPr>
        <p:spPr>
          <a:xfrm>
            <a:off x="6035040" y="914400"/>
            <a:ext cx="2880360" cy="379476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12700">
              <a:srgbClr val="000000">
                <a:alpha val="705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8" name="Google Shape;878;p35"/>
          <p:cNvSpPr/>
          <p:nvPr/>
        </p:nvSpPr>
        <p:spPr>
          <a:xfrm>
            <a:off x="6035040" y="914400"/>
            <a:ext cx="2880360" cy="457200"/>
          </a:xfrm>
          <a:prstGeom prst="rect">
            <a:avLst/>
          </a:prstGeom>
          <a:solidFill>
            <a:srgbClr val="1B2A3B"/>
          </a:solidFill>
          <a:ln cap="flat" cmpd="sng" w="12700">
            <a:solidFill>
              <a:srgbClr val="1B2A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9" name="Google Shape;879;p35"/>
          <p:cNvSpPr/>
          <p:nvPr/>
        </p:nvSpPr>
        <p:spPr>
          <a:xfrm>
            <a:off x="6126480" y="914400"/>
            <a:ext cx="2743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D6A0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6D6A0"/>
                </a:solidFill>
                <a:latin typeface="Calibri"/>
                <a:ea typeface="Calibri"/>
                <a:cs typeface="Calibri"/>
                <a:sym typeface="Calibri"/>
              </a:rPr>
              <a:t>SKILLS UNLOCKED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0" name="Google Shape;880;p35"/>
          <p:cNvSpPr/>
          <p:nvPr/>
        </p:nvSpPr>
        <p:spPr>
          <a:xfrm>
            <a:off x="6126480" y="1463040"/>
            <a:ext cx="2697480" cy="3108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Sound · TweenService · TweenInfo · ParticleEmitter · SoundService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1" name="Google Shape;881;p35"/>
          <p:cNvSpPr/>
          <p:nvPr/>
        </p:nvSpPr>
        <p:spPr>
          <a:xfrm>
            <a:off x="182880" y="4846320"/>
            <a:ext cx="87782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JS Bros Lab · Lesson 11 · Activity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1B2A"/>
        </a:solidFill>
      </p:bgPr>
    </p:bg>
    <p:spTree>
      <p:nvGrpSpPr>
        <p:cNvPr id="886" name="Shape 8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7" name="Google Shape;887;p36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6D6A0"/>
          </a:solidFill>
          <a:ln cap="flat" cmpd="sng" w="12700">
            <a:solidFill>
              <a:srgbClr val="06D6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8" name="Google Shape;888;p36"/>
          <p:cNvSpPr/>
          <p:nvPr/>
        </p:nvSpPr>
        <p:spPr>
          <a:xfrm>
            <a:off x="3474720" y="1005840"/>
            <a:ext cx="457200" cy="457200"/>
          </a:xfrm>
          <a:prstGeom prst="ellipse">
            <a:avLst/>
          </a:prstGeom>
          <a:solidFill>
            <a:srgbClr val="06D6A0"/>
          </a:solidFill>
          <a:ln cap="flat" cmpd="sng" w="12700">
            <a:solidFill>
              <a:srgbClr val="06D6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9" name="Google Shape;889;p36"/>
          <p:cNvSpPr/>
          <p:nvPr/>
        </p:nvSpPr>
        <p:spPr>
          <a:xfrm>
            <a:off x="4297680" y="1005840"/>
            <a:ext cx="457200" cy="457200"/>
          </a:xfrm>
          <a:prstGeom prst="ellipse">
            <a:avLst/>
          </a:prstGeom>
          <a:solidFill>
            <a:srgbClr val="06D6A0"/>
          </a:solidFill>
          <a:ln cap="flat" cmpd="sng" w="12700">
            <a:solidFill>
              <a:srgbClr val="06D6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0" name="Google Shape;890;p36"/>
          <p:cNvSpPr/>
          <p:nvPr/>
        </p:nvSpPr>
        <p:spPr>
          <a:xfrm>
            <a:off x="5120640" y="1005840"/>
            <a:ext cx="457200" cy="457200"/>
          </a:xfrm>
          <a:prstGeom prst="ellipse">
            <a:avLst/>
          </a:prstGeom>
          <a:solidFill>
            <a:srgbClr val="06D6A0"/>
          </a:solidFill>
          <a:ln cap="flat" cmpd="sng" w="12700">
            <a:solidFill>
              <a:srgbClr val="06D6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1" name="Google Shape;891;p36"/>
          <p:cNvSpPr/>
          <p:nvPr/>
        </p:nvSpPr>
        <p:spPr>
          <a:xfrm>
            <a:off x="457200" y="2194560"/>
            <a:ext cx="8229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200"/>
              <a:buFont typeface="Calibri"/>
              <a:buNone/>
            </a:pPr>
            <a:r>
              <a:rPr b="1" i="0" lang="en-US" sz="4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You shipped a game.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2" name="Google Shape;892;p36"/>
          <p:cNvSpPr/>
          <p:nvPr/>
        </p:nvSpPr>
        <p:spPr>
          <a:xfrm>
            <a:off x="457200" y="315468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2000"/>
              <a:buFont typeface="Calibri"/>
              <a:buNone/>
            </a:pPr>
            <a:r>
              <a:rPr b="0" i="1" lang="en-US" sz="2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Push it to GitHub and show someone.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3" name="Google Shape;893;p36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6D6A0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06D6A0"/>
                </a:solidFill>
                <a:latin typeface="Calibri"/>
                <a:ea typeface="Calibri"/>
                <a:cs typeface="Calibri"/>
                <a:sym typeface="Calibri"/>
              </a:rPr>
              <a:t>js-bro-s.github.io/jsbros-lab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2026-03-28T17:17:04Z</dcterms:created>
  <dc:creator>JS Bros</dc:creator>
</cp:coreProperties>
</file>